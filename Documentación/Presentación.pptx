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67" r:id="rId4"/>
    <p:sldId id="266" r:id="rId5"/>
    <p:sldId id="265" r:id="rId6"/>
    <p:sldId id="271" r:id="rId7"/>
    <p:sldId id="272" r:id="rId8"/>
    <p:sldId id="268" r:id="rId9"/>
    <p:sldId id="269" r:id="rId10"/>
    <p:sldId id="270" r:id="rId11"/>
    <p:sldId id="274" r:id="rId12"/>
    <p:sldId id="275" r:id="rId13"/>
    <p:sldId id="276" r:id="rId14"/>
    <p:sldId id="277" r:id="rId1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31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DAA06-8256-4542-A0E4-DFE02A5B4FA4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5C0475-F8A2-4794-82B6-A7D7CAB0CCB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3651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>
          <a:extLst>
            <a:ext uri="{FF2B5EF4-FFF2-40B4-BE49-F238E27FC236}">
              <a16:creationId xmlns:a16="http://schemas.microsoft.com/office/drawing/2014/main" id="{E04FF53B-01F6-A6FD-6AC6-AB4918ED5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>
            <a:extLst>
              <a:ext uri="{FF2B5EF4-FFF2-40B4-BE49-F238E27FC236}">
                <a16:creationId xmlns:a16="http://schemas.microsoft.com/office/drawing/2014/main" id="{41D3F139-7362-41C7-4E43-200C76B3AD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>
            <a:extLst>
              <a:ext uri="{FF2B5EF4-FFF2-40B4-BE49-F238E27FC236}">
                <a16:creationId xmlns:a16="http://schemas.microsoft.com/office/drawing/2014/main" id="{44C830F3-629F-0723-0E63-23DCE914AC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1369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2BFF97-4059-2021-4D12-4CA932773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419B99-4DF5-8C6B-6FAA-10E53CD3F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57FD9A3-A017-78E5-22C1-89A9192D2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9BE41-57A4-4D77-8501-5A7FA9A096AF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10556F8-EC36-F9A2-E4E1-F19B364F7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84E4C23-D682-CE5A-6456-1B120834F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98F-BDB1-43B2-A137-948670BC84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84525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11D666-B3DA-12D7-B938-A9993A4C2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B741926-57CE-F0A7-2747-EF46A493A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286CE6C-FF8E-22DE-F1FA-1E22EFF40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9BE41-57A4-4D77-8501-5A7FA9A096AF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D435C-3302-9A67-ABC7-F111ADE5F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8101F00-7B27-DAB5-6DCC-F253812D5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98F-BDB1-43B2-A137-948670BC84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0853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3ABC45-72D0-4BFE-2B90-E3698CE1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0403C2-F198-F944-DB54-94A1D8A51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BD62D1-BEF1-A672-DA9D-016F4C94F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9BE41-57A4-4D77-8501-5A7FA9A096AF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95B0F0-A60A-09A3-7F6E-EA74DA2AE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639D974-3C79-0C85-F4AC-3F934A7B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98F-BDB1-43B2-A137-948670BC84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8242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32B820-9AE3-E709-5146-8E79FE7F3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3808335-757E-C026-4AB7-4EA06D0256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2AA5684-00A9-5E16-A474-E1D218B739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EA78C2B-166E-4972-B9AB-C5C4DD417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9BE41-57A4-4D77-8501-5A7FA9A096AF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E6F64C7-0FE1-4930-12D9-F46FE9B67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77A341C-5306-E9BE-D0BF-2C0191D2E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98F-BDB1-43B2-A137-948670BC84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5882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53744A-3260-4D6A-8F8E-CCF06D750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768A02E-EC73-8576-43C3-9D2D3736B9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DFE184F-91D4-C223-35F9-FD7053562B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7D8DB87-44D9-6C01-7CA5-971988BC3D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CDD43A8-1E2F-1722-9143-A26BAEC713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69A5E79-4EBF-9797-00FB-6C01963C2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9BE41-57A4-4D77-8501-5A7FA9A096AF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3F50FFF-03C0-7B63-8DB4-7A12F397C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E3122FE-B198-1C8C-942E-FAB3D4ADB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98F-BDB1-43B2-A137-948670BC84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13211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7EF327-A8CE-3B9B-E5ED-830966499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C7D7D6A-C361-0538-9AC0-116C1238F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9BE41-57A4-4D77-8501-5A7FA9A096AF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1049557-3D3E-0720-3D82-539E908EB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8DA76E-4FC8-44B6-9ACE-74619DB5C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98F-BDB1-43B2-A137-948670BC84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40307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BADBD9A-9B72-F6B2-2986-843CC92EF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9BE41-57A4-4D77-8501-5A7FA9A096AF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22DB0-A2B2-3FEB-33A8-25255A413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EC93FD6-3F6E-3A7E-3FB4-7A1173B2D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98F-BDB1-43B2-A137-948670BC84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32954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509DAA-6EB1-3A63-E24F-C5FCB5945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A0CDF6-36EF-D3E7-7437-A0D20897E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3324B6-63A9-E89F-A936-098EEC515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91026B-C55C-088F-97A7-351E6B1FE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9BE41-57A4-4D77-8501-5A7FA9A096AF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327EF78-608F-8E20-CA2D-D33E5DD70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6309C11-DCFA-5CB7-35E2-75A65B879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98F-BDB1-43B2-A137-948670BC84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2622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8FA43E-CFE8-CD8E-1A70-C404992AE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FC60D60-79FE-92A2-2CE9-D28CC6B08A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85A6263-C836-D0E6-0E0D-3E80565B5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EAE00F6-1913-22AB-6FD8-185BA9E6A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9BE41-57A4-4D77-8501-5A7FA9A096AF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9F4843F-3297-D222-7526-77D125A08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71BC624-5E65-931E-5A01-07872253C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98F-BDB1-43B2-A137-948670BC84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6248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1729BE-7033-F15E-8409-33DAB880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E8C1608-9486-E389-37C6-A69662F4A3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563CB59-7917-9AF1-2B54-4811B76E2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9BE41-57A4-4D77-8501-5A7FA9A096AF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FBCDED9-B128-377E-831D-FE29B5F43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7E3163C-BEAB-6C20-73BA-39B8F3284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98F-BDB1-43B2-A137-948670BC84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81544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98AA694-D03E-82FB-7E20-48F7C407F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1BC3119-B2E3-E1DD-E874-7B67CC6B11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46E19B0-BA3A-E331-F17A-4D70D4A2F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79BE41-57A4-4D77-8501-5A7FA9A096AF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8C149D-CEE5-6311-50B5-FEDB96904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CB49A95-1660-3D6F-C826-B5AE09AFC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98F-BDB1-43B2-A137-948670BC84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0591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35BB0AB-3A6F-2BA5-A857-AD90860C8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D085A4-ACD3-2950-403E-B92D1DC940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63755D-B7CD-F792-E556-E6D3012B3E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79BE41-57A4-4D77-8501-5A7FA9A096AF}" type="datetimeFigureOut">
              <a:rPr lang="es-ES" smtClean="0"/>
              <a:t>13/05/2026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887B4D-A1E0-6EBB-9B0E-1BEC2A1CF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DDC4B24-56FA-F559-49DC-271A4DC9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78398F-BDB1-43B2-A137-948670BC84D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5740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3.png"/><Relationship Id="rId4" Type="http://schemas.openxmlformats.org/officeDocument/2006/relationships/image" Target="../media/image8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.png"/><Relationship Id="rId9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www.youtube.com/watch?v=vzDG5FsjIes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0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AEFAFB4-DBB1-68EF-8B45-C10AF392E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s-ES" sz="5100" dirty="0"/>
              <a:t>IMPLANTACIÓN DE SERVIDOR PXE BASADO EN FOG PROJECT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6809B9E-E3BF-4C49-BF5C-6FF9A1168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es-ES" dirty="0"/>
              <a:t>Cristóbal Suárez Abad</a:t>
            </a:r>
          </a:p>
          <a:p>
            <a:r>
              <a:rPr lang="es-ES" dirty="0"/>
              <a:t>PROYECTO INTERMODULAR DE ADMINISTRACIÓN DE SISTEMAS INFORMÁTICOS EN RED </a:t>
            </a:r>
          </a:p>
          <a:p>
            <a:r>
              <a:rPr lang="es-ES" dirty="0"/>
              <a:t>2º ASIR</a:t>
            </a:r>
          </a:p>
        </p:txBody>
      </p:sp>
      <p:sp>
        <p:nvSpPr>
          <p:cNvPr id="1038" name="Freeform: Shape 1032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35" name="Freeform: Shape 103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7" name="Freeform: Shape 103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39" name="Freeform: Shape 1038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86CFD9-71A7-330C-F7BA-BE7A5B4D39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-1"/>
          <a:stretch>
            <a:fillRect/>
          </a:stretch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3" name="Freeform: Shape 1042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645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93283" y="2352674"/>
            <a:ext cx="3486150" cy="3133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97513" y="2352674"/>
            <a:ext cx="3486150" cy="3133726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2579033" y="3324224"/>
            <a:ext cx="306038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Situación Actual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2579033" y="3790949"/>
            <a:ext cx="2914650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Uso de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Clonezilla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Server con baja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tolerancia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fallos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y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gestión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presencial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cada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aula del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instituto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7283263" y="3324224"/>
            <a:ext cx="306038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Puntos Críticos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7283263" y="3790949"/>
            <a:ext cx="3060382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Saturación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de red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Fallo </a:t>
            </a: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multicast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Error con discos de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diferente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tamaño</a:t>
            </a:r>
            <a:endParaRPr lang="en-US" sz="1500" b="0" i="0" u="none" strike="noStrike" cap="none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Sin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servicio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otras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subredes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103" name="Google Shape;103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579033" y="2705099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283263" y="2705099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771525" y="581025"/>
            <a:ext cx="5400675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Contexto</a:t>
            </a:r>
            <a:r>
              <a:rPr lang="en-US" sz="360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y </a:t>
            </a:r>
            <a:r>
              <a:rPr lang="en-US" sz="3600" b="1" i="0" u="none" strike="noStrike" cap="none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Problemática</a:t>
            </a:r>
            <a:endParaRPr dirty="0"/>
          </a:p>
        </p:txBody>
      </p:sp>
      <p:sp>
        <p:nvSpPr>
          <p:cNvPr id="107" name="Google Shape;107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111">
          <a:extLst>
            <a:ext uri="{FF2B5EF4-FFF2-40B4-BE49-F238E27FC236}">
              <a16:creationId xmlns:a16="http://schemas.microsoft.com/office/drawing/2014/main" id="{CC06C20D-24C6-5B47-1FC3-6463F7C98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5">
            <a:extLst>
              <a:ext uri="{FF2B5EF4-FFF2-40B4-BE49-F238E27FC236}">
                <a16:creationId xmlns:a16="http://schemas.microsoft.com/office/drawing/2014/main" id="{AF02F55D-74E1-5148-621D-80898AD6ADE4}"/>
              </a:ext>
            </a:extLst>
          </p:cNvPr>
          <p:cNvSpPr txBox="1"/>
          <p:nvPr/>
        </p:nvSpPr>
        <p:spPr>
          <a:xfrm>
            <a:off x="771525" y="581025"/>
            <a:ext cx="598315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Objetivos</a:t>
            </a:r>
            <a:r>
              <a:rPr lang="en-US" sz="360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3600" b="1" i="0" u="none" strike="noStrike" cap="none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Estratégicos</a:t>
            </a:r>
            <a:endParaRPr dirty="0"/>
          </a:p>
        </p:txBody>
      </p:sp>
      <p:sp>
        <p:nvSpPr>
          <p:cNvPr id="124" name="Google Shape;124;p15">
            <a:extLst>
              <a:ext uri="{FF2B5EF4-FFF2-40B4-BE49-F238E27FC236}">
                <a16:creationId xmlns:a16="http://schemas.microsoft.com/office/drawing/2014/main" id="{9DD7FF54-79EE-187A-A48D-1C48A3B26983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Google Shape;141;p17" descr="image.png">
            <a:extLst>
              <a:ext uri="{FF2B5EF4-FFF2-40B4-BE49-F238E27FC236}">
                <a16:creationId xmlns:a16="http://schemas.microsoft.com/office/drawing/2014/main" id="{90843CB7-2DA1-EDD8-5835-07216C392BA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86151" y="1527845"/>
            <a:ext cx="3486150" cy="15451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44;p17">
            <a:extLst>
              <a:ext uri="{FF2B5EF4-FFF2-40B4-BE49-F238E27FC236}">
                <a16:creationId xmlns:a16="http://schemas.microsoft.com/office/drawing/2014/main" id="{645D5347-75D4-EAF0-32A1-18E692BF9582}"/>
              </a:ext>
            </a:extLst>
          </p:cNvPr>
          <p:cNvSpPr txBox="1"/>
          <p:nvPr/>
        </p:nvSpPr>
        <p:spPr>
          <a:xfrm>
            <a:off x="2253538" y="1743483"/>
            <a:ext cx="306038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Centralización</a:t>
            </a:r>
            <a:endParaRPr dirty="0"/>
          </a:p>
        </p:txBody>
      </p:sp>
      <p:sp>
        <p:nvSpPr>
          <p:cNvPr id="5" name="Google Shape;145;p17">
            <a:extLst>
              <a:ext uri="{FF2B5EF4-FFF2-40B4-BE49-F238E27FC236}">
                <a16:creationId xmlns:a16="http://schemas.microsoft.com/office/drawing/2014/main" id="{306C3979-02AA-DB05-3199-1D124D4735ED}"/>
              </a:ext>
            </a:extLst>
          </p:cNvPr>
          <p:cNvSpPr txBox="1"/>
          <p:nvPr/>
        </p:nvSpPr>
        <p:spPr>
          <a:xfrm>
            <a:off x="2212782" y="2037089"/>
            <a:ext cx="286188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Gestión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todo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los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equipos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desde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un </a:t>
            </a: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único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panel web.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7" name="Google Shape;141;p17" descr="image.png">
            <a:extLst>
              <a:ext uri="{FF2B5EF4-FFF2-40B4-BE49-F238E27FC236}">
                <a16:creationId xmlns:a16="http://schemas.microsoft.com/office/drawing/2014/main" id="{7C105D2A-58CB-CA26-2760-27AB5EF3727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19700" y="1527845"/>
            <a:ext cx="3486150" cy="1504794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144;p17">
            <a:extLst>
              <a:ext uri="{FF2B5EF4-FFF2-40B4-BE49-F238E27FC236}">
                <a16:creationId xmlns:a16="http://schemas.microsoft.com/office/drawing/2014/main" id="{C39C90AB-01E8-80DB-3088-EF445CE56DBF}"/>
              </a:ext>
            </a:extLst>
          </p:cNvPr>
          <p:cNvSpPr txBox="1"/>
          <p:nvPr/>
        </p:nvSpPr>
        <p:spPr>
          <a:xfrm>
            <a:off x="7005450" y="1724230"/>
            <a:ext cx="306038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b="1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Despliegue</a:t>
            </a:r>
            <a:r>
              <a:rPr lang="en-US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Masivo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" name="Google Shape;145;p17">
            <a:extLst>
              <a:ext uri="{FF2B5EF4-FFF2-40B4-BE49-F238E27FC236}">
                <a16:creationId xmlns:a16="http://schemas.microsoft.com/office/drawing/2014/main" id="{4ABF35F0-E47A-AA89-77FE-4362D7A347E0}"/>
              </a:ext>
            </a:extLst>
          </p:cNvPr>
          <p:cNvSpPr txBox="1"/>
          <p:nvPr/>
        </p:nvSpPr>
        <p:spPr>
          <a:xfrm>
            <a:off x="7005450" y="2039969"/>
            <a:ext cx="309535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Protocolo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rbanist"/>
                <a:ea typeface="Urbanist"/>
                <a:cs typeface="Urbanist"/>
                <a:sym typeface="Urbanist"/>
              </a:rPr>
              <a:t>Multicast para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rbanist"/>
                <a:ea typeface="Urbanist"/>
                <a:cs typeface="Urbanist"/>
                <a:sym typeface="Urbanist"/>
              </a:rPr>
              <a:t>desplegar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rbanist"/>
                <a:ea typeface="Urbanist"/>
                <a:cs typeface="Urbanist"/>
                <a:sym typeface="Urbanist"/>
              </a:rPr>
              <a:t> aulas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rbanist"/>
                <a:ea typeface="Urbanist"/>
                <a:cs typeface="Urbanist"/>
                <a:sym typeface="Urbanist"/>
              </a:rPr>
              <a:t>completas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rbanist"/>
                <a:ea typeface="Urbanist"/>
                <a:cs typeface="Urbanist"/>
                <a:sym typeface="Urbanist"/>
              </a:rPr>
              <a:t>manera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rbanist"/>
                <a:ea typeface="Urbanist"/>
                <a:cs typeface="Urbanist"/>
                <a:sym typeface="Urbanist"/>
              </a:rPr>
              <a:t>eficiente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12" name="Google Shape;141;p17" descr="image.png">
            <a:extLst>
              <a:ext uri="{FF2B5EF4-FFF2-40B4-BE49-F238E27FC236}">
                <a16:creationId xmlns:a16="http://schemas.microsoft.com/office/drawing/2014/main" id="{FEAF7E4C-5ABA-C5AE-EA44-2E66B579192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86151" y="4119971"/>
            <a:ext cx="3486150" cy="150479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44;p17">
            <a:extLst>
              <a:ext uri="{FF2B5EF4-FFF2-40B4-BE49-F238E27FC236}">
                <a16:creationId xmlns:a16="http://schemas.microsoft.com/office/drawing/2014/main" id="{217D6F9A-0328-0357-07E5-91DE5069BFAD}"/>
              </a:ext>
            </a:extLst>
          </p:cNvPr>
          <p:cNvSpPr txBox="1"/>
          <p:nvPr/>
        </p:nvSpPr>
        <p:spPr>
          <a:xfrm>
            <a:off x="2199035" y="4310075"/>
            <a:ext cx="306038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Redes </a:t>
            </a:r>
            <a:r>
              <a:rPr lang="en-US" b="1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Segmentadas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4" name="Google Shape;145;p17">
            <a:extLst>
              <a:ext uri="{FF2B5EF4-FFF2-40B4-BE49-F238E27FC236}">
                <a16:creationId xmlns:a16="http://schemas.microsoft.com/office/drawing/2014/main" id="{235727B4-51C1-7A23-5BC5-40ABB12A282E}"/>
              </a:ext>
            </a:extLst>
          </p:cNvPr>
          <p:cNvSpPr txBox="1"/>
          <p:nvPr/>
        </p:nvSpPr>
        <p:spPr>
          <a:xfrm>
            <a:off x="2160014" y="4678186"/>
            <a:ext cx="291465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Superar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barreras entre </a:t>
            </a: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Subredes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: PXE, Multicast, </a:t>
            </a: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WakeOnLAN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15" name="Google Shape;141;p17" descr="image.png">
            <a:extLst>
              <a:ext uri="{FF2B5EF4-FFF2-40B4-BE49-F238E27FC236}">
                <a16:creationId xmlns:a16="http://schemas.microsoft.com/office/drawing/2014/main" id="{62C92750-81D2-928F-614E-86AAD05A884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54677" y="4119971"/>
            <a:ext cx="3486150" cy="150479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44;p17">
            <a:extLst>
              <a:ext uri="{FF2B5EF4-FFF2-40B4-BE49-F238E27FC236}">
                <a16:creationId xmlns:a16="http://schemas.microsoft.com/office/drawing/2014/main" id="{695A65A7-5977-FC62-7287-8640EA6B743E}"/>
              </a:ext>
            </a:extLst>
          </p:cNvPr>
          <p:cNvSpPr txBox="1"/>
          <p:nvPr/>
        </p:nvSpPr>
        <p:spPr>
          <a:xfrm>
            <a:off x="7040427" y="4300790"/>
            <a:ext cx="306038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Zero-Touch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7" name="Google Shape;145;p17">
            <a:extLst>
              <a:ext uri="{FF2B5EF4-FFF2-40B4-BE49-F238E27FC236}">
                <a16:creationId xmlns:a16="http://schemas.microsoft.com/office/drawing/2014/main" id="{5F5C9142-DE9A-8D64-1C28-7C497F631BC8}"/>
              </a:ext>
            </a:extLst>
          </p:cNvPr>
          <p:cNvSpPr txBox="1"/>
          <p:nvPr/>
        </p:nvSpPr>
        <p:spPr>
          <a:xfrm>
            <a:off x="7040427" y="4668258"/>
            <a:ext cx="291465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Automatización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total </a:t>
            </a: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mediante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scripts post-</a:t>
            </a: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despliegue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y </a:t>
            </a:r>
            <a:r>
              <a:rPr lang="en-US" sz="15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Snapins</a:t>
            </a:r>
            <a:r>
              <a:rPr lang="en-US" sz="15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0900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1043" y="3271837"/>
            <a:ext cx="3486150" cy="30051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4825" y="3271837"/>
            <a:ext cx="3486150" cy="3005138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7"/>
          <p:cNvSpPr txBox="1"/>
          <p:nvPr/>
        </p:nvSpPr>
        <p:spPr>
          <a:xfrm>
            <a:off x="1006793" y="3509962"/>
            <a:ext cx="306038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Infraestructura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1006793" y="3976687"/>
            <a:ext cx="2914650" cy="1508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Virtualización</a:t>
            </a:r>
            <a:r>
              <a:rPr lang="en-US" sz="14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4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sobre</a:t>
            </a:r>
            <a:r>
              <a:rPr lang="en-US" sz="14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4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Proxmox</a:t>
            </a:r>
            <a:r>
              <a:rPr lang="en-US" sz="14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VE y </a:t>
            </a:r>
          </a:p>
          <a:p>
            <a:pPr>
              <a:lnSpc>
                <a:spcPct val="140000"/>
              </a:lnSpc>
            </a:pPr>
            <a:r>
              <a:rPr lang="en-US" sz="14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VM de Ubuntu Server 24.04 LTS</a:t>
            </a:r>
            <a:endParaRPr lang="en-US" sz="1400" b="0" i="0" u="none" strike="noStrike" cap="none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Ahorro </a:t>
            </a:r>
            <a:r>
              <a:rPr lang="en-US" sz="14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4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recursos</a:t>
            </a:r>
            <a:r>
              <a:rPr lang="en-US" sz="14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Métodos</a:t>
            </a:r>
            <a:r>
              <a:rPr lang="en-US" sz="14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4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propios</a:t>
            </a:r>
            <a:r>
              <a:rPr lang="en-US" sz="14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de backup.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  <a:latin typeface="Urbanist"/>
                <a:sym typeface="Urbanist"/>
              </a:rPr>
              <a:t>Facilidad</a:t>
            </a: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 para </a:t>
            </a:r>
            <a:r>
              <a:rPr lang="en-US" sz="1400" dirty="0" err="1">
                <a:solidFill>
                  <a:schemeClr val="bg1"/>
                </a:solidFill>
                <a:latin typeface="Urbanist"/>
                <a:sym typeface="Urbanist"/>
              </a:rPr>
              <a:t>escalar</a:t>
            </a: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Urbanist"/>
                <a:sym typeface="Urbanist"/>
              </a:rPr>
              <a:t>recursos</a:t>
            </a: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.</a:t>
            </a:r>
            <a:endParaRPr sz="1400" dirty="0">
              <a:solidFill>
                <a:schemeClr val="bg1"/>
              </a:solidFill>
            </a:endParaRPr>
          </a:p>
        </p:txBody>
      </p:sp>
      <p:sp>
        <p:nvSpPr>
          <p:cNvPr id="148" name="Google Shape;148;p17"/>
          <p:cNvSpPr txBox="1"/>
          <p:nvPr/>
        </p:nvSpPr>
        <p:spPr>
          <a:xfrm>
            <a:off x="8410575" y="3509962"/>
            <a:ext cx="306038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Red</a:t>
            </a:r>
            <a:endParaRPr dirty="0"/>
          </a:p>
        </p:txBody>
      </p:sp>
      <p:sp>
        <p:nvSpPr>
          <p:cNvPr id="149" name="Google Shape;149;p17"/>
          <p:cNvSpPr txBox="1"/>
          <p:nvPr/>
        </p:nvSpPr>
        <p:spPr>
          <a:xfrm>
            <a:off x="8410575" y="3924300"/>
            <a:ext cx="2914650" cy="1206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Dispositivos</a:t>
            </a:r>
            <a:r>
              <a:rPr lang="en-US" sz="14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de red:</a:t>
            </a:r>
            <a:endParaRPr lang="en-US" sz="1400" b="0" i="0" u="none" strike="noStrike" cap="none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R1-ubuntu: LXC de Ubuntu.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o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4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MikroTik</a:t>
            </a:r>
            <a:r>
              <a:rPr lang="en-US" sz="14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: VM con </a:t>
            </a:r>
            <a:r>
              <a:rPr lang="en-US" sz="14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RouterOS</a:t>
            </a:r>
            <a:r>
              <a:rPr lang="en-US" sz="14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sz="1400" dirty="0">
              <a:solidFill>
                <a:schemeClr val="bg1"/>
              </a:solidFill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771525" y="581025"/>
            <a:ext cx="5689236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Stack </a:t>
            </a:r>
            <a:r>
              <a:rPr lang="en-US" sz="36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Tecnológico</a:t>
            </a:r>
            <a:endParaRPr dirty="0"/>
          </a:p>
        </p:txBody>
      </p:sp>
      <p:sp>
        <p:nvSpPr>
          <p:cNvPr id="154" name="Google Shape;154;p17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10">
            <a:extLst>
              <a:ext uri="{FF2B5EF4-FFF2-40B4-BE49-F238E27FC236}">
                <a16:creationId xmlns:a16="http://schemas.microsoft.com/office/drawing/2014/main" id="{F7B84479-2C15-4DAA-E897-B453F5CDD4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311718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7F98EB49-0DE7-6309-568E-E2468878FE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580" y="1627512"/>
            <a:ext cx="1442089" cy="1382279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A60B965-5A64-04E1-8A33-CB9FF7B718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984" y="1704701"/>
            <a:ext cx="1305107" cy="1314633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E90C1AEE-A119-C8C5-3494-8BDD0487A5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4825" y="1719261"/>
            <a:ext cx="1550096" cy="1414463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3C86E977-22FF-1BD6-F933-176AC5538FD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3236" y="1671124"/>
            <a:ext cx="1462600" cy="1462600"/>
          </a:xfrm>
          <a:prstGeom prst="rect">
            <a:avLst/>
          </a:prstGeom>
        </p:spPr>
      </p:pic>
      <p:pic>
        <p:nvPicPr>
          <p:cNvPr id="3" name="Google Shape;141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390360" y="3271837"/>
            <a:ext cx="3486150" cy="300513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44;p17"/>
          <p:cNvSpPr txBox="1"/>
          <p:nvPr/>
        </p:nvSpPr>
        <p:spPr>
          <a:xfrm>
            <a:off x="4676110" y="3509962"/>
            <a:ext cx="306038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Núcleo</a:t>
            </a:r>
            <a:endParaRPr dirty="0"/>
          </a:p>
        </p:txBody>
      </p:sp>
      <p:sp>
        <p:nvSpPr>
          <p:cNvPr id="5" name="Google Shape;145;p17"/>
          <p:cNvSpPr txBox="1"/>
          <p:nvPr/>
        </p:nvSpPr>
        <p:spPr>
          <a:xfrm>
            <a:off x="4676110" y="3976687"/>
            <a:ext cx="3200400" cy="21328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FOG Project v1.5.10 (Stable):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DHCP Server (IP, </a:t>
            </a:r>
            <a:r>
              <a:rPr lang="en-US" sz="1400" dirty="0" err="1">
                <a:solidFill>
                  <a:schemeClr val="bg1"/>
                </a:solidFill>
                <a:latin typeface="Urbanist"/>
                <a:sym typeface="Urbanist"/>
              </a:rPr>
              <a:t>Arranque</a:t>
            </a: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 PXE)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DNSMASQ (</a:t>
            </a:r>
            <a:r>
              <a:rPr lang="en-US" sz="1400" dirty="0" err="1">
                <a:solidFill>
                  <a:schemeClr val="bg1"/>
                </a:solidFill>
                <a:latin typeface="Urbanist"/>
                <a:sym typeface="Urbanist"/>
              </a:rPr>
              <a:t>ProxyDHCP</a:t>
            </a: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)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Multicast (</a:t>
            </a:r>
            <a:r>
              <a:rPr lang="en-US" sz="1400" dirty="0" err="1">
                <a:solidFill>
                  <a:schemeClr val="bg1"/>
                </a:solidFill>
                <a:latin typeface="Urbanist"/>
                <a:sym typeface="Urbanist"/>
              </a:rPr>
              <a:t>transmisión</a:t>
            </a: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 de </a:t>
            </a:r>
            <a:r>
              <a:rPr lang="en-US" sz="1400" dirty="0" err="1">
                <a:solidFill>
                  <a:schemeClr val="bg1"/>
                </a:solidFill>
                <a:latin typeface="Urbanist"/>
                <a:sym typeface="Urbanist"/>
              </a:rPr>
              <a:t>datos</a:t>
            </a: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)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  <a:latin typeface="Urbanist"/>
                <a:sym typeface="Urbanist"/>
              </a:rPr>
              <a:t>Captura</a:t>
            </a: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 y </a:t>
            </a:r>
            <a:r>
              <a:rPr lang="en-US" sz="1400" dirty="0" err="1">
                <a:solidFill>
                  <a:schemeClr val="bg1"/>
                </a:solidFill>
                <a:latin typeface="Urbanist"/>
                <a:sym typeface="Urbanist"/>
              </a:rPr>
              <a:t>gestión</a:t>
            </a: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 de </a:t>
            </a:r>
            <a:r>
              <a:rPr lang="en-US" sz="1400" dirty="0" err="1">
                <a:solidFill>
                  <a:schemeClr val="bg1"/>
                </a:solidFill>
                <a:latin typeface="Urbanist"/>
                <a:sym typeface="Urbanist"/>
              </a:rPr>
              <a:t>imágenes</a:t>
            </a:r>
            <a:endParaRPr lang="en-US" sz="1400" dirty="0">
              <a:solidFill>
                <a:schemeClr val="bg1"/>
              </a:solidFill>
              <a:latin typeface="Urbanist"/>
              <a:sym typeface="Urbanist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Administración de Hosts (MariaDB)</a:t>
            </a: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  <a:latin typeface="Urbanist"/>
                <a:sym typeface="Urbanist"/>
              </a:rPr>
              <a:t>FOG Client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(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Snapins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)</a:t>
            </a:r>
            <a:endParaRPr lang="en-US" sz="1400" dirty="0">
              <a:solidFill>
                <a:schemeClr val="bg1"/>
              </a:solidFill>
              <a:latin typeface="Urbanist"/>
              <a:sym typeface="Urbanist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48D5933-DA98-1E4D-76C3-FB5E0019740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4223" y="1708966"/>
            <a:ext cx="1238423" cy="12193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5"/>
          <p:cNvSpPr txBox="1"/>
          <p:nvPr/>
        </p:nvSpPr>
        <p:spPr>
          <a:xfrm>
            <a:off x="771525" y="581025"/>
            <a:ext cx="4850606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Arquitectura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36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Red</a:t>
            </a:r>
            <a:endParaRPr lang="en-US" sz="3600" dirty="0"/>
          </a:p>
        </p:txBody>
      </p:sp>
      <p:sp>
        <p:nvSpPr>
          <p:cNvPr id="124" name="Google Shape;124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" name="Imagen 53">
            <a:extLst>
              <a:ext uri="{FF2B5EF4-FFF2-40B4-BE49-F238E27FC236}">
                <a16:creationId xmlns:a16="http://schemas.microsoft.com/office/drawing/2014/main" id="{237B86EC-A7EF-4354-D586-0069088D1A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6168" y="2052887"/>
            <a:ext cx="7092853" cy="4224088"/>
          </a:xfrm>
          <a:prstGeom prst="rect">
            <a:avLst/>
          </a:prstGeom>
        </p:spPr>
      </p:pic>
      <p:pic>
        <p:nvPicPr>
          <p:cNvPr id="4" name="Google Shape;141;p17" descr="image.png">
            <a:extLst>
              <a:ext uri="{FF2B5EF4-FFF2-40B4-BE49-F238E27FC236}">
                <a16:creationId xmlns:a16="http://schemas.microsoft.com/office/drawing/2014/main" id="{A8B3665C-33C0-9BBF-9934-A54C233A7D7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26191" y="3145870"/>
            <a:ext cx="4168203" cy="313110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44;p17">
            <a:extLst>
              <a:ext uri="{FF2B5EF4-FFF2-40B4-BE49-F238E27FC236}">
                <a16:creationId xmlns:a16="http://schemas.microsoft.com/office/drawing/2014/main" id="{890CF6FF-CA89-FDA6-5F73-33D948746BE5}"/>
              </a:ext>
            </a:extLst>
          </p:cNvPr>
          <p:cNvSpPr txBox="1"/>
          <p:nvPr/>
        </p:nvSpPr>
        <p:spPr>
          <a:xfrm>
            <a:off x="611942" y="3383995"/>
            <a:ext cx="3882452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R1-ubuntu</a:t>
            </a:r>
            <a:r>
              <a:rPr lang="en-US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o </a:t>
            </a:r>
            <a:r>
              <a:rPr lang="en-US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MikroTik</a:t>
            </a:r>
            <a:r>
              <a:rPr lang="en-US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CHR</a:t>
            </a:r>
            <a:endParaRPr lang="en-US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" name="Google Shape;145;p17">
            <a:extLst>
              <a:ext uri="{FF2B5EF4-FFF2-40B4-BE49-F238E27FC236}">
                <a16:creationId xmlns:a16="http://schemas.microsoft.com/office/drawing/2014/main" id="{8A9A400E-0AF5-FE80-A29C-60A806CF26B3}"/>
              </a:ext>
            </a:extLst>
          </p:cNvPr>
          <p:cNvSpPr txBox="1"/>
          <p:nvPr/>
        </p:nvSpPr>
        <p:spPr>
          <a:xfrm>
            <a:off x="611941" y="3850720"/>
            <a:ext cx="3882452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Enrutamiento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entre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subredes</a:t>
            </a:r>
            <a:endParaRPr lang="en-US" sz="1500" b="0" i="0" u="none" strike="noStrike" cap="none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DHCP-Relay 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Wingdings" panose="05000000000000000000" pitchFamily="2" charset="2"/>
              </a:rPr>
              <a:t>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Wingdings" panose="05000000000000000000" pitchFamily="2" charset="2"/>
              </a:rPr>
              <a:t>Peticiones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Wingdings" panose="05000000000000000000" pitchFamily="2" charset="2"/>
              </a:rPr>
              <a:t> DHCP al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Wingdings" panose="05000000000000000000" pitchFamily="2" charset="2"/>
              </a:rPr>
              <a:t>servidor</a:t>
            </a:r>
            <a:endParaRPr lang="en-US" sz="1500" dirty="0">
              <a:solidFill>
                <a:schemeClr val="bg1"/>
              </a:solidFill>
              <a:latin typeface="Urbanist"/>
              <a:sym typeface="Urbanist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Multicast 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Wingdings" panose="05000000000000000000" pitchFamily="2" charset="2"/>
              </a:rPr>
              <a:t>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Wingdings" panose="05000000000000000000" pitchFamily="2" charset="2"/>
              </a:rPr>
              <a:t>Eficiencia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Wingdings" panose="05000000000000000000" pitchFamily="2" charset="2"/>
              </a:rPr>
              <a:t> del Ancho de Banda</a:t>
            </a:r>
            <a:endParaRPr lang="en-US" sz="1500" dirty="0">
              <a:solidFill>
                <a:schemeClr val="bg1"/>
              </a:solidFill>
              <a:latin typeface="Urbanist"/>
              <a:sym typeface="Urbanist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Wake On LAN 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Wingdings" panose="05000000000000000000" pitchFamily="2" charset="2"/>
              </a:rPr>
              <a:t>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Wingdings" panose="05000000000000000000" pitchFamily="2" charset="2"/>
              </a:rPr>
              <a:t>Enrutamiento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Wingdings" panose="05000000000000000000" pitchFamily="2" charset="2"/>
              </a:rPr>
              <a:t> y Scripts</a:t>
            </a:r>
            <a:endParaRPr lang="en-US" sz="1500" dirty="0">
              <a:solidFill>
                <a:schemeClr val="bg1"/>
              </a:solidFill>
              <a:latin typeface="Urbanist"/>
              <a:sym typeface="Urbanist"/>
            </a:endParaRPr>
          </a:p>
          <a:p>
            <a:pPr marL="285750" marR="0" lvl="0" indent="-28575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DHCP-Server (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Opcional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)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500" dirty="0">
              <a:solidFill>
                <a:srgbClr val="DAFFDE"/>
              </a:solidFill>
              <a:latin typeface="Urbanist"/>
              <a:sym typeface="Urbanist"/>
            </a:endParaRPr>
          </a:p>
        </p:txBody>
      </p:sp>
      <p:pic>
        <p:nvPicPr>
          <p:cNvPr id="2" name="Google Shape;141;p17" descr="image.png">
            <a:extLst>
              <a:ext uri="{FF2B5EF4-FFF2-40B4-BE49-F238E27FC236}">
                <a16:creationId xmlns:a16="http://schemas.microsoft.com/office/drawing/2014/main" id="{4C2B14B9-044A-84B7-7CBA-ECA6F8E9C13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26191" y="1506668"/>
            <a:ext cx="4168202" cy="150061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102C29D9-D231-33AA-B063-EE441E4F3816}"/>
              </a:ext>
            </a:extLst>
          </p:cNvPr>
          <p:cNvSpPr txBox="1"/>
          <p:nvPr/>
        </p:nvSpPr>
        <p:spPr>
          <a:xfrm>
            <a:off x="459956" y="1648354"/>
            <a:ext cx="4072951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5F5F5"/>
                </a:solidFill>
                <a:latin typeface="Urbanist"/>
                <a:sym typeface="Urbanist"/>
              </a:rPr>
              <a:t>FOG-Server: 10.2.7.5/24</a:t>
            </a:r>
          </a:p>
          <a:p>
            <a:endParaRPr lang="en-US" sz="1600" b="1" dirty="0">
              <a:solidFill>
                <a:srgbClr val="F5F5F5"/>
              </a:solidFill>
              <a:latin typeface="Urbanist"/>
              <a:sym typeface="Urbanist"/>
            </a:endParaRPr>
          </a:p>
          <a:p>
            <a:r>
              <a:rPr lang="en-US" sz="1400" dirty="0">
                <a:solidFill>
                  <a:srgbClr val="F5F5F5"/>
                </a:solidFill>
                <a:latin typeface="Urbanist"/>
                <a:sym typeface="Wingdings" panose="05000000000000000000" pitchFamily="2" charset="2"/>
              </a:rPr>
              <a:t>DNSMASQ (</a:t>
            </a:r>
            <a:r>
              <a:rPr lang="en-US" sz="1400" dirty="0" err="1">
                <a:solidFill>
                  <a:srgbClr val="F5F5F5"/>
                </a:solidFill>
                <a:latin typeface="Urbanist"/>
                <a:sym typeface="Wingdings" panose="05000000000000000000" pitchFamily="2" charset="2"/>
              </a:rPr>
              <a:t>ProxyDHCP</a:t>
            </a:r>
            <a:r>
              <a:rPr lang="en-US" sz="1400" dirty="0">
                <a:solidFill>
                  <a:srgbClr val="F5F5F5"/>
                </a:solidFill>
                <a:latin typeface="Urbanist"/>
                <a:sym typeface="Wingdings" panose="05000000000000000000" pitchFamily="2" charset="2"/>
              </a:rPr>
              <a:t>)  </a:t>
            </a:r>
            <a:r>
              <a:rPr lang="en-US" sz="1400" dirty="0">
                <a:solidFill>
                  <a:srgbClr val="F5F5F5"/>
                </a:solidFill>
                <a:latin typeface="Urbanist"/>
                <a:sym typeface="Urbanist"/>
              </a:rPr>
              <a:t>vmbr207 </a:t>
            </a:r>
          </a:p>
          <a:p>
            <a:endParaRPr lang="en-US" sz="1400" dirty="0">
              <a:solidFill>
                <a:srgbClr val="F5F5F5"/>
              </a:solidFill>
              <a:latin typeface="Urbanist"/>
              <a:sym typeface="Urbanist"/>
            </a:endParaRPr>
          </a:p>
          <a:p>
            <a:r>
              <a:rPr lang="en-US" sz="1400" dirty="0" err="1">
                <a:solidFill>
                  <a:schemeClr val="bg1"/>
                </a:solidFill>
                <a:latin typeface="Urbanist" panose="020B0604020202020204"/>
                <a:sym typeface="Wingdings" panose="05000000000000000000" pitchFamily="2" charset="2"/>
              </a:rPr>
              <a:t>Servidor</a:t>
            </a:r>
            <a:r>
              <a:rPr lang="en-US" sz="1400" dirty="0">
                <a:solidFill>
                  <a:schemeClr val="bg1"/>
                </a:solidFill>
                <a:latin typeface="Urbanist" panose="020B0604020202020204"/>
                <a:sym typeface="Wingdings" panose="05000000000000000000" pitchFamily="2" charset="2"/>
              </a:rPr>
              <a:t> DHCP  </a:t>
            </a:r>
            <a:r>
              <a:rPr lang="en-US" sz="1400" dirty="0">
                <a:solidFill>
                  <a:schemeClr val="bg1"/>
                </a:solidFill>
                <a:latin typeface="Urbanist" panose="020B0604020202020204"/>
              </a:rPr>
              <a:t>vmbr217, vmbr227 y vmbr237</a:t>
            </a:r>
          </a:p>
        </p:txBody>
      </p:sp>
      <p:pic>
        <p:nvPicPr>
          <p:cNvPr id="9" name="Google Shape;141;p17" descr="image.png">
            <a:extLst>
              <a:ext uri="{FF2B5EF4-FFF2-40B4-BE49-F238E27FC236}">
                <a16:creationId xmlns:a16="http://schemas.microsoft.com/office/drawing/2014/main" id="{5BF36B35-E49F-A7FF-7CED-01A37777356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354144" y="1059781"/>
            <a:ext cx="5828206" cy="82898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34;p16">
            <a:extLst>
              <a:ext uri="{FF2B5EF4-FFF2-40B4-BE49-F238E27FC236}">
                <a16:creationId xmlns:a16="http://schemas.microsoft.com/office/drawing/2014/main" id="{9464FA7F-AB5E-65B8-A73D-E8874AAD0C0E}"/>
              </a:ext>
            </a:extLst>
          </p:cNvPr>
          <p:cNvSpPr txBox="1"/>
          <p:nvPr/>
        </p:nvSpPr>
        <p:spPr>
          <a:xfrm>
            <a:off x="5622131" y="1153451"/>
            <a:ext cx="5342705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Segmentación</a:t>
            </a:r>
            <a:r>
              <a:rPr lang="en-US" sz="15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Interconexión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entre red de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gestión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(10.2.7.0) y aulas (172.18.0.0/16)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mediante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R1-ubuntu o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Mikrotik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CHR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23;p15">
            <a:extLst>
              <a:ext uri="{FF2B5EF4-FFF2-40B4-BE49-F238E27FC236}">
                <a16:creationId xmlns:a16="http://schemas.microsoft.com/office/drawing/2014/main" id="{FA24CB36-CC3F-5EA7-1177-7485C30F23B3}"/>
              </a:ext>
            </a:extLst>
          </p:cNvPr>
          <p:cNvSpPr txBox="1"/>
          <p:nvPr/>
        </p:nvSpPr>
        <p:spPr>
          <a:xfrm>
            <a:off x="771524" y="581025"/>
            <a:ext cx="1114565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Arquitectura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36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Red – Multicast (</a:t>
            </a:r>
            <a:r>
              <a:rPr lang="en-US" sz="3600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Multidifusión</a:t>
            </a:r>
            <a:r>
              <a:rPr lang="en-US" sz="36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lang="en-US" sz="3600" dirty="0"/>
          </a:p>
        </p:txBody>
      </p:sp>
      <p:sp>
        <p:nvSpPr>
          <p:cNvPr id="4" name="Google Shape;124;p15">
            <a:extLst>
              <a:ext uri="{FF2B5EF4-FFF2-40B4-BE49-F238E27FC236}">
                <a16:creationId xmlns:a16="http://schemas.microsoft.com/office/drawing/2014/main" id="{4CB2324B-CB55-734C-84CA-04E49B7C81E8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201;p21" descr="image.png">
            <a:extLst>
              <a:ext uri="{FF2B5EF4-FFF2-40B4-BE49-F238E27FC236}">
                <a16:creationId xmlns:a16="http://schemas.microsoft.com/office/drawing/2014/main" id="{53B023D0-3E0E-9336-79B1-7235ED01D31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61088" y="4550593"/>
            <a:ext cx="3111709" cy="1424066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CuadroTexto 23">
            <a:extLst>
              <a:ext uri="{FF2B5EF4-FFF2-40B4-BE49-F238E27FC236}">
                <a16:creationId xmlns:a16="http://schemas.microsoft.com/office/drawing/2014/main" id="{23178A23-FAFD-3B1B-3E1C-7ECE3C8F255B}"/>
              </a:ext>
            </a:extLst>
          </p:cNvPr>
          <p:cNvSpPr txBox="1"/>
          <p:nvPr/>
        </p:nvSpPr>
        <p:spPr>
          <a:xfrm>
            <a:off x="961087" y="4658955"/>
            <a:ext cx="3321727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  <a:latin typeface="Urbanist"/>
                <a:sym typeface="Urbanist"/>
              </a:rPr>
              <a:t>R1-ubuntu: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Deshabilitar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“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Filtros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RPF”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Descubrir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IP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grupo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Multicast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Crear Puente con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SMCRoute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</a:p>
        </p:txBody>
      </p:sp>
      <p:pic>
        <p:nvPicPr>
          <p:cNvPr id="29" name="Google Shape;201;p21" descr="image.png">
            <a:extLst>
              <a:ext uri="{FF2B5EF4-FFF2-40B4-BE49-F238E27FC236}">
                <a16:creationId xmlns:a16="http://schemas.microsoft.com/office/drawing/2014/main" id="{D29E9977-D188-1B07-B6D1-28B11C9F038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61087" y="1383844"/>
            <a:ext cx="3061431" cy="148683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CuadroTexto 29">
            <a:extLst>
              <a:ext uri="{FF2B5EF4-FFF2-40B4-BE49-F238E27FC236}">
                <a16:creationId xmlns:a16="http://schemas.microsoft.com/office/drawing/2014/main" id="{8AABFBAF-21D5-1243-84A8-EA36EDF4BBF8}"/>
              </a:ext>
            </a:extLst>
          </p:cNvPr>
          <p:cNvSpPr txBox="1"/>
          <p:nvPr/>
        </p:nvSpPr>
        <p:spPr>
          <a:xfrm>
            <a:off x="961087" y="1446610"/>
            <a:ext cx="306143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El 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despliegue</a:t>
            </a:r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Multicast (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UDPcast</a:t>
            </a:r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) reduce 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consumo</a:t>
            </a:r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de red al 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enviar</a:t>
            </a:r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flujo</a:t>
            </a:r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datos</a:t>
            </a:r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una</a:t>
            </a:r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sola 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vez</a:t>
            </a:r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para 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todo</a:t>
            </a:r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600" b="0" i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b="0" i="1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grupo</a:t>
            </a:r>
            <a:endParaRPr lang="es-ES" sz="1600" dirty="0">
              <a:solidFill>
                <a:schemeClr val="bg1"/>
              </a:solidFill>
            </a:endParaRPr>
          </a:p>
        </p:txBody>
      </p:sp>
      <p:pic>
        <p:nvPicPr>
          <p:cNvPr id="2" name="Google Shape;201;p21" descr="image.png">
            <a:extLst>
              <a:ext uri="{FF2B5EF4-FFF2-40B4-BE49-F238E27FC236}">
                <a16:creationId xmlns:a16="http://schemas.microsoft.com/office/drawing/2014/main" id="{8BFBE01C-4E3D-D945-B3CA-899F6909E2C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79501" y="1423370"/>
            <a:ext cx="3061431" cy="1486832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40BCFA44-A5CA-65AE-795E-633382700615}"/>
              </a:ext>
            </a:extLst>
          </p:cNvPr>
          <p:cNvSpPr txBox="1"/>
          <p:nvPr/>
        </p:nvSpPr>
        <p:spPr>
          <a:xfrm>
            <a:off x="8379501" y="1486136"/>
            <a:ext cx="306143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FOG Project:</a:t>
            </a:r>
          </a:p>
          <a:p>
            <a:endParaRPr lang="en-US" sz="1600" b="1" u="none" strike="noStrike" cap="none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600" b="1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UDPCAST MAXWAIT</a:t>
            </a:r>
          </a:p>
          <a:p>
            <a:r>
              <a:rPr lang="en-US" sz="16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Tiempo de </a:t>
            </a:r>
            <a:r>
              <a:rPr lang="en-US" sz="16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espera</a:t>
            </a:r>
            <a:r>
              <a:rPr lang="en-US" sz="16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para </a:t>
            </a:r>
            <a:r>
              <a:rPr lang="en-US" sz="160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unión</a:t>
            </a:r>
            <a:r>
              <a:rPr lang="en-US" sz="16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de hosts</a:t>
            </a:r>
            <a:endParaRPr lang="es-ES" sz="1600" dirty="0">
              <a:solidFill>
                <a:schemeClr val="bg1"/>
              </a:solidFill>
            </a:endParaRPr>
          </a:p>
        </p:txBody>
      </p:sp>
      <p:pic>
        <p:nvPicPr>
          <p:cNvPr id="6" name="Google Shape;201;p21" descr="image.png">
            <a:extLst>
              <a:ext uri="{FF2B5EF4-FFF2-40B4-BE49-F238E27FC236}">
                <a16:creationId xmlns:a16="http://schemas.microsoft.com/office/drawing/2014/main" id="{FA65B479-887F-6B3D-1167-253168DB217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79503" y="4550592"/>
            <a:ext cx="3061429" cy="117019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2BE0C90-D020-7010-35A6-0479654E1CDC}"/>
              </a:ext>
            </a:extLst>
          </p:cNvPr>
          <p:cNvSpPr txBox="1"/>
          <p:nvPr/>
        </p:nvSpPr>
        <p:spPr>
          <a:xfrm>
            <a:off x="8379501" y="4597358"/>
            <a:ext cx="3321727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solidFill>
                  <a:schemeClr val="bg1"/>
                </a:solidFill>
                <a:latin typeface="Urbanist"/>
                <a:sym typeface="Urbanist"/>
              </a:rPr>
              <a:t>Mikrotik</a:t>
            </a:r>
            <a:r>
              <a:rPr lang="en-US" sz="1800" b="1" dirty="0">
                <a:solidFill>
                  <a:schemeClr val="bg1"/>
                </a:solidFill>
                <a:latin typeface="Urbanist"/>
                <a:sym typeface="Urbanist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Protocolo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“IGMP Proxy”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885B918D-9756-C351-71DA-A11CACA43D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8384" y="1476375"/>
            <a:ext cx="39052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119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3;p15">
            <a:extLst>
              <a:ext uri="{FF2B5EF4-FFF2-40B4-BE49-F238E27FC236}">
                <a16:creationId xmlns:a16="http://schemas.microsoft.com/office/drawing/2014/main" id="{1F67FF4D-3F12-46FF-201F-F683FBD3CA55}"/>
              </a:ext>
            </a:extLst>
          </p:cNvPr>
          <p:cNvSpPr txBox="1"/>
          <p:nvPr/>
        </p:nvSpPr>
        <p:spPr>
          <a:xfrm>
            <a:off x="771525" y="581025"/>
            <a:ext cx="85725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Arquitectura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36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Red – Wake On LAN</a:t>
            </a:r>
            <a:endParaRPr lang="en-US" sz="3600" dirty="0"/>
          </a:p>
        </p:txBody>
      </p:sp>
      <p:sp>
        <p:nvSpPr>
          <p:cNvPr id="3" name="Google Shape;124;p15">
            <a:extLst>
              <a:ext uri="{FF2B5EF4-FFF2-40B4-BE49-F238E27FC236}">
                <a16:creationId xmlns:a16="http://schemas.microsoft.com/office/drawing/2014/main" id="{2D546BE5-921B-467B-5035-DC74BC6E40DC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" name="Google Shape;201;p21" descr="image.png">
            <a:extLst>
              <a:ext uri="{FF2B5EF4-FFF2-40B4-BE49-F238E27FC236}">
                <a16:creationId xmlns:a16="http://schemas.microsoft.com/office/drawing/2014/main" id="{15AD77DA-4120-E97A-06C6-202F1658C8D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337841" y="1363233"/>
            <a:ext cx="4273134" cy="1500344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CE2A4ED1-CCCB-ACE3-A0B7-ADD0EA37923F}"/>
              </a:ext>
            </a:extLst>
          </p:cNvPr>
          <p:cNvSpPr txBox="1"/>
          <p:nvPr/>
        </p:nvSpPr>
        <p:spPr>
          <a:xfrm>
            <a:off x="7623591" y="1606433"/>
            <a:ext cx="380750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  <a:latin typeface="Urbanist"/>
                <a:sym typeface="Urbanist"/>
              </a:rPr>
              <a:t>R1-ubuntu: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IPTables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(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Clonación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y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envío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bc_forwarding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: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Envío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de Broadcast.</a:t>
            </a:r>
          </a:p>
        </p:txBody>
      </p:sp>
      <p:pic>
        <p:nvPicPr>
          <p:cNvPr id="4" name="Google Shape;201;p21" descr="image.png">
            <a:extLst>
              <a:ext uri="{FF2B5EF4-FFF2-40B4-BE49-F238E27FC236}">
                <a16:creationId xmlns:a16="http://schemas.microsoft.com/office/drawing/2014/main" id="{3CA8051A-5B1D-89EA-D4AE-35FA5F89746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81025" y="1363233"/>
            <a:ext cx="3408386" cy="76449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207;p21">
            <a:extLst>
              <a:ext uri="{FF2B5EF4-FFF2-40B4-BE49-F238E27FC236}">
                <a16:creationId xmlns:a16="http://schemas.microsoft.com/office/drawing/2014/main" id="{8B770FD4-E42B-B6EB-6EDF-5FC7F4628943}"/>
              </a:ext>
            </a:extLst>
          </p:cNvPr>
          <p:cNvSpPr txBox="1"/>
          <p:nvPr/>
        </p:nvSpPr>
        <p:spPr>
          <a:xfrm>
            <a:off x="644342" y="1514873"/>
            <a:ext cx="3328707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Encendido</a:t>
            </a:r>
            <a:r>
              <a:rPr lang="en-US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1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remot</a:t>
            </a:r>
            <a:r>
              <a:rPr lang="en-US" b="1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o</a:t>
            </a:r>
            <a:r>
              <a:rPr lang="en-US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de </a:t>
            </a:r>
            <a:r>
              <a:rPr lang="en-US" b="1" i="0" u="none" strike="noStrike" cap="none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los</a:t>
            </a:r>
            <a:r>
              <a:rPr lang="en-US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hosts</a:t>
            </a:r>
            <a:endParaRPr b="1" dirty="0">
              <a:solidFill>
                <a:schemeClr val="bg1"/>
              </a:solidFill>
            </a:endParaRPr>
          </a:p>
        </p:txBody>
      </p:sp>
      <p:pic>
        <p:nvPicPr>
          <p:cNvPr id="8" name="Google Shape;201;p21" descr="image.png">
            <a:extLst>
              <a:ext uri="{FF2B5EF4-FFF2-40B4-BE49-F238E27FC236}">
                <a16:creationId xmlns:a16="http://schemas.microsoft.com/office/drawing/2014/main" id="{A8F1FCFE-B836-7776-E830-CA7F7A0304B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337840" y="3971065"/>
            <a:ext cx="4249359" cy="248969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E1371C0C-B6FD-FD68-E6DA-D9964EEE3D74}"/>
              </a:ext>
            </a:extLst>
          </p:cNvPr>
          <p:cNvSpPr txBox="1"/>
          <p:nvPr/>
        </p:nvSpPr>
        <p:spPr>
          <a:xfrm>
            <a:off x="7620689" y="4214266"/>
            <a:ext cx="3990286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solidFill>
                  <a:schemeClr val="bg1"/>
                </a:solidFill>
                <a:latin typeface="Urbanist"/>
                <a:sym typeface="Urbanist"/>
              </a:rPr>
              <a:t>Mikrotik</a:t>
            </a:r>
            <a:r>
              <a:rPr lang="en-US" sz="1800" b="1" dirty="0">
                <a:solidFill>
                  <a:schemeClr val="bg1"/>
                </a:solidFill>
                <a:latin typeface="Urbanist"/>
                <a:sym typeface="Urbanist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Agente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proxy Wake On LAN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Interfaz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de red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en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cada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subred</a:t>
            </a:r>
            <a:endParaRPr lang="en-US" sz="1600" dirty="0">
              <a:solidFill>
                <a:schemeClr val="bg1"/>
              </a:solidFill>
              <a:latin typeface="Urbanist"/>
              <a:sym typeface="Urbanis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Script: Lee base de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datos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FOG y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usa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herramienta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“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wol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” del router.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Usuarios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con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privilegios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mínimos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en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BBDD FOG y router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Mikrotik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DAFFDE"/>
              </a:solidFill>
              <a:latin typeface="Urbanist"/>
              <a:sym typeface="Urbanist"/>
            </a:endParaRPr>
          </a:p>
        </p:txBody>
      </p:sp>
      <p:pic>
        <p:nvPicPr>
          <p:cNvPr id="10" name="Google Shape;201;p21" descr="image.png">
            <a:extLst>
              <a:ext uri="{FF2B5EF4-FFF2-40B4-BE49-F238E27FC236}">
                <a16:creationId xmlns:a16="http://schemas.microsoft.com/office/drawing/2014/main" id="{7AE7C6C2-C840-6033-EF6A-14DA7CB37D0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81026" y="3971065"/>
            <a:ext cx="3486150" cy="2489696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5045BC80-69AD-0F79-D49B-86DB4AC46CCD}"/>
              </a:ext>
            </a:extLst>
          </p:cNvPr>
          <p:cNvSpPr txBox="1"/>
          <p:nvPr/>
        </p:nvSpPr>
        <p:spPr>
          <a:xfrm>
            <a:off x="866777" y="4255055"/>
            <a:ext cx="3106272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  <a:latin typeface="Urbanist"/>
                <a:sym typeface="Urbanist"/>
              </a:rPr>
              <a:t>Jump Box: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Dispositivo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Linux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en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subred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destino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..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Conexión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por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SSH y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envía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“WOL”.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Script: lee BBDD FOG y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manda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ejecutar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comando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 de “</a:t>
            </a:r>
            <a:r>
              <a:rPr lang="en-US" sz="1600" dirty="0" err="1">
                <a:solidFill>
                  <a:schemeClr val="bg1"/>
                </a:solidFill>
                <a:latin typeface="Urbanist"/>
                <a:sym typeface="Urbanist"/>
              </a:rPr>
              <a:t>etherwake</a:t>
            </a:r>
            <a:r>
              <a:rPr lang="en-US" sz="1600" dirty="0">
                <a:solidFill>
                  <a:schemeClr val="bg1"/>
                </a:solidFill>
                <a:latin typeface="Urbanist"/>
                <a:sym typeface="Urbanist"/>
              </a:rPr>
              <a:t>”.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9E5D080-0E5E-2546-A833-BDB95697B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8799" y="1956216"/>
            <a:ext cx="2773180" cy="2773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8272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3;p15">
            <a:extLst>
              <a:ext uri="{FF2B5EF4-FFF2-40B4-BE49-F238E27FC236}">
                <a16:creationId xmlns:a16="http://schemas.microsoft.com/office/drawing/2014/main" id="{D3034D4D-154D-4636-BC8D-4DA6781CFD18}"/>
              </a:ext>
            </a:extLst>
          </p:cNvPr>
          <p:cNvSpPr txBox="1"/>
          <p:nvPr/>
        </p:nvSpPr>
        <p:spPr>
          <a:xfrm>
            <a:off x="771524" y="581025"/>
            <a:ext cx="1083945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Herramientas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Apoyo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– </a:t>
            </a:r>
            <a:r>
              <a:rPr lang="en-US" sz="3600" b="1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Copias</a:t>
            </a:r>
            <a:r>
              <a:rPr lang="en-US" sz="36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3600" b="1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Seguridad</a:t>
            </a:r>
            <a:endParaRPr lang="en-US" sz="36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Google Shape;124;p15">
            <a:extLst>
              <a:ext uri="{FF2B5EF4-FFF2-40B4-BE49-F238E27FC236}">
                <a16:creationId xmlns:a16="http://schemas.microsoft.com/office/drawing/2014/main" id="{50609988-64EE-48A8-1679-D0B52BCB4B8A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Google Shape;141;p17" descr="image.png">
            <a:extLst>
              <a:ext uri="{FF2B5EF4-FFF2-40B4-BE49-F238E27FC236}">
                <a16:creationId xmlns:a16="http://schemas.microsoft.com/office/drawing/2014/main" id="{4BCAB6CE-329F-A7F7-DA5B-6904605D71F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00343" y="2836176"/>
            <a:ext cx="3383405" cy="2690344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44;p17">
            <a:extLst>
              <a:ext uri="{FF2B5EF4-FFF2-40B4-BE49-F238E27FC236}">
                <a16:creationId xmlns:a16="http://schemas.microsoft.com/office/drawing/2014/main" id="{007C9D96-DBBB-26C0-5D5E-CF848C9179DA}"/>
              </a:ext>
            </a:extLst>
          </p:cNvPr>
          <p:cNvSpPr txBox="1"/>
          <p:nvPr/>
        </p:nvSpPr>
        <p:spPr>
          <a:xfrm>
            <a:off x="786093" y="3074301"/>
            <a:ext cx="3882452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FOGBackup.sh</a:t>
            </a:r>
            <a:endParaRPr dirty="0"/>
          </a:p>
        </p:txBody>
      </p:sp>
      <p:sp>
        <p:nvSpPr>
          <p:cNvPr id="6" name="Google Shape;145;p17">
            <a:extLst>
              <a:ext uri="{FF2B5EF4-FFF2-40B4-BE49-F238E27FC236}">
                <a16:creationId xmlns:a16="http://schemas.microsoft.com/office/drawing/2014/main" id="{A8A78E74-EBB1-D5E4-2CCF-F55E31975911}"/>
              </a:ext>
            </a:extLst>
          </p:cNvPr>
          <p:cNvSpPr txBox="1"/>
          <p:nvPr/>
        </p:nvSpPr>
        <p:spPr>
          <a:xfrm>
            <a:off x="786091" y="3541026"/>
            <a:ext cx="2877178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Arreglo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de error 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Wingdings" panose="05000000000000000000" pitchFamily="2" charset="2"/>
              </a:rPr>
              <a:t>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Sustitución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de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wget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por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mysqldump</a:t>
            </a:r>
            <a:endParaRPr lang="en-US" sz="1500" dirty="0">
              <a:solidFill>
                <a:schemeClr val="bg1"/>
              </a:solidFill>
              <a:latin typeface="Urbanist"/>
              <a:sym typeface="Urbanist"/>
            </a:endParaRP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Almacenamiento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Externo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con NFS.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Automatización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con “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cron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”</a:t>
            </a:r>
          </a:p>
        </p:txBody>
      </p:sp>
      <p:pic>
        <p:nvPicPr>
          <p:cNvPr id="10" name="Google Shape;141;p17" descr="image.png">
            <a:extLst>
              <a:ext uri="{FF2B5EF4-FFF2-40B4-BE49-F238E27FC236}">
                <a16:creationId xmlns:a16="http://schemas.microsoft.com/office/drawing/2014/main" id="{1C3A1E2D-F0E6-606D-173D-CE11C32B0AA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69496" y="2836176"/>
            <a:ext cx="3661974" cy="308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44;p17">
            <a:extLst>
              <a:ext uri="{FF2B5EF4-FFF2-40B4-BE49-F238E27FC236}">
                <a16:creationId xmlns:a16="http://schemas.microsoft.com/office/drawing/2014/main" id="{57EBC16D-C1F3-D04C-245D-848058BE6E46}"/>
              </a:ext>
            </a:extLst>
          </p:cNvPr>
          <p:cNvSpPr txBox="1"/>
          <p:nvPr/>
        </p:nvSpPr>
        <p:spPr>
          <a:xfrm>
            <a:off x="4455246" y="3074302"/>
            <a:ext cx="3882452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Exportar</a:t>
            </a:r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/</a:t>
            </a:r>
            <a:r>
              <a:rPr lang="en-US" sz="1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Importar</a:t>
            </a:r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Imágenes</a:t>
            </a:r>
            <a:endParaRPr dirty="0"/>
          </a:p>
        </p:txBody>
      </p:sp>
      <p:sp>
        <p:nvSpPr>
          <p:cNvPr id="12" name="Google Shape;145;p17">
            <a:extLst>
              <a:ext uri="{FF2B5EF4-FFF2-40B4-BE49-F238E27FC236}">
                <a16:creationId xmlns:a16="http://schemas.microsoft.com/office/drawing/2014/main" id="{DCEDB570-5813-9545-B7D1-36B35ACFAC4D}"/>
              </a:ext>
            </a:extLst>
          </p:cNvPr>
          <p:cNvSpPr txBox="1"/>
          <p:nvPr/>
        </p:nvSpPr>
        <p:spPr>
          <a:xfrm>
            <a:off x="4455245" y="3541027"/>
            <a:ext cx="3196344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SCP, 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rsync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 o 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Filezilla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 para trasladar archivos.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Archivo “.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csv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”: Información de la imagen. Exportación e importación mediante página web.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Fácil de mover a diferentes estructuras de red.</a:t>
            </a:r>
          </a:p>
          <a:p>
            <a:pPr lvl="0">
              <a:lnSpc>
                <a:spcPct val="140000"/>
              </a:lnSpc>
            </a:pPr>
            <a:endParaRPr lang="en-US" sz="1500" dirty="0">
              <a:solidFill>
                <a:srgbClr val="DAFFDE"/>
              </a:solidFill>
              <a:latin typeface="Urbanist"/>
              <a:sym typeface="Urbanist"/>
            </a:endParaRPr>
          </a:p>
        </p:txBody>
      </p:sp>
      <p:pic>
        <p:nvPicPr>
          <p:cNvPr id="13" name="Google Shape;141;p17" descr="image.png">
            <a:extLst>
              <a:ext uri="{FF2B5EF4-FFF2-40B4-BE49-F238E27FC236}">
                <a16:creationId xmlns:a16="http://schemas.microsoft.com/office/drawing/2014/main" id="{A70A21D6-3EDD-7212-E00E-A38D66A56EB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17218" y="2836176"/>
            <a:ext cx="3661974" cy="2690344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5;p17">
            <a:extLst>
              <a:ext uri="{FF2B5EF4-FFF2-40B4-BE49-F238E27FC236}">
                <a16:creationId xmlns:a16="http://schemas.microsoft.com/office/drawing/2014/main" id="{63FA0F33-9724-1E11-2256-5DD8B7B4425F}"/>
              </a:ext>
            </a:extLst>
          </p:cNvPr>
          <p:cNvSpPr txBox="1"/>
          <p:nvPr/>
        </p:nvSpPr>
        <p:spPr>
          <a:xfrm>
            <a:off x="8402967" y="3541027"/>
            <a:ext cx="3196344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Importación de archivo “.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sql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” y otros archivos (Imágenes, 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Snapins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, Scripts, 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etc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).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Actualizar datos: contraseñas, nombre de interfaz de red e 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IPs</a:t>
            </a:r>
            <a:endParaRPr lang="es-ES" sz="1500" dirty="0">
              <a:solidFill>
                <a:schemeClr val="bg1"/>
              </a:solidFill>
              <a:latin typeface="Urbanist"/>
              <a:sym typeface="Urbanist"/>
            </a:endParaRPr>
          </a:p>
        </p:txBody>
      </p:sp>
      <p:sp>
        <p:nvSpPr>
          <p:cNvPr id="15" name="Google Shape;144;p17">
            <a:extLst>
              <a:ext uri="{FF2B5EF4-FFF2-40B4-BE49-F238E27FC236}">
                <a16:creationId xmlns:a16="http://schemas.microsoft.com/office/drawing/2014/main" id="{A5A17502-9818-9DBA-BB3E-1BEC4D451295}"/>
              </a:ext>
            </a:extLst>
          </p:cNvPr>
          <p:cNvSpPr txBox="1"/>
          <p:nvPr/>
        </p:nvSpPr>
        <p:spPr>
          <a:xfrm>
            <a:off x="8402967" y="3053677"/>
            <a:ext cx="3882452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Migración</a:t>
            </a:r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Servidor</a:t>
            </a:r>
            <a:endParaRPr dirty="0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A690FACA-6869-4AB7-D9B6-A6EF173E54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8494" y="1456491"/>
            <a:ext cx="1248143" cy="1248143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376B4D4A-C483-E6EE-D3AF-8AB3EA34E2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1245" y="1352524"/>
            <a:ext cx="1323694" cy="1323694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26375669-3176-154D-E26B-69A50246E9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8" y="1373149"/>
            <a:ext cx="1402977" cy="140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8965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32000">
              <a:schemeClr val="bg2">
                <a:lumMod val="75000"/>
              </a:schemeClr>
            </a:gs>
            <a:gs pos="67000">
              <a:schemeClr val="bg1">
                <a:lumMod val="85000"/>
              </a:schemeClr>
            </a:gs>
            <a:gs pos="100000">
              <a:schemeClr val="bg1">
                <a:lumMod val="9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3;p15">
            <a:extLst>
              <a:ext uri="{FF2B5EF4-FFF2-40B4-BE49-F238E27FC236}">
                <a16:creationId xmlns:a16="http://schemas.microsoft.com/office/drawing/2014/main" id="{FA04E41E-0191-A851-24FB-56D0E1323434}"/>
              </a:ext>
            </a:extLst>
          </p:cNvPr>
          <p:cNvSpPr txBox="1"/>
          <p:nvPr/>
        </p:nvSpPr>
        <p:spPr>
          <a:xfrm>
            <a:off x="771524" y="581025"/>
            <a:ext cx="1083945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Herramientas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Apoyo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– </a:t>
            </a:r>
            <a:r>
              <a:rPr lang="en-US" sz="3600" b="1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Monitorización</a:t>
            </a:r>
            <a:r>
              <a:rPr lang="en-US" sz="36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 y </a:t>
            </a:r>
            <a:r>
              <a:rPr lang="en-US" sz="3600" b="1" dirty="0" err="1">
                <a:solidFill>
                  <a:schemeClr val="accent6">
                    <a:lumMod val="40000"/>
                    <a:lumOff val="60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Alerta</a:t>
            </a:r>
            <a:endParaRPr lang="en-US" sz="36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Google Shape;124;p15">
            <a:extLst>
              <a:ext uri="{FF2B5EF4-FFF2-40B4-BE49-F238E27FC236}">
                <a16:creationId xmlns:a16="http://schemas.microsoft.com/office/drawing/2014/main" id="{EA0750DA-67F1-3B17-17EE-A9862D72EF53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Google Shape;141;p17" descr="image.png">
            <a:extLst>
              <a:ext uri="{FF2B5EF4-FFF2-40B4-BE49-F238E27FC236}">
                <a16:creationId xmlns:a16="http://schemas.microsoft.com/office/drawing/2014/main" id="{CC45F81B-6EBA-0260-DFD1-AE8960AAD9B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5032" y="2123778"/>
            <a:ext cx="2359418" cy="1803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45;p17">
            <a:extLst>
              <a:ext uri="{FF2B5EF4-FFF2-40B4-BE49-F238E27FC236}">
                <a16:creationId xmlns:a16="http://schemas.microsoft.com/office/drawing/2014/main" id="{EAE0E066-E670-ED84-F65F-6618EEA10777}"/>
              </a:ext>
            </a:extLst>
          </p:cNvPr>
          <p:cNvSpPr txBox="1"/>
          <p:nvPr/>
        </p:nvSpPr>
        <p:spPr>
          <a:xfrm>
            <a:off x="288381" y="2694641"/>
            <a:ext cx="2073668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Extrae métricas de Hardware y 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Systemd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 y las envía a Prometheus</a:t>
            </a:r>
            <a:endParaRPr lang="en-US" sz="1500" dirty="0">
              <a:solidFill>
                <a:schemeClr val="bg1"/>
              </a:solidFill>
              <a:latin typeface="Urbanist"/>
              <a:sym typeface="Urbanist"/>
            </a:endParaRPr>
          </a:p>
        </p:txBody>
      </p:sp>
      <p:sp>
        <p:nvSpPr>
          <p:cNvPr id="11" name="Google Shape;144;p17">
            <a:extLst>
              <a:ext uri="{FF2B5EF4-FFF2-40B4-BE49-F238E27FC236}">
                <a16:creationId xmlns:a16="http://schemas.microsoft.com/office/drawing/2014/main" id="{167BC351-905E-A4F6-301F-C2DFBC39A5D6}"/>
              </a:ext>
            </a:extLst>
          </p:cNvPr>
          <p:cNvSpPr txBox="1"/>
          <p:nvPr/>
        </p:nvSpPr>
        <p:spPr>
          <a:xfrm>
            <a:off x="288381" y="2448419"/>
            <a:ext cx="207366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Node Exporter</a:t>
            </a:r>
            <a:endParaRPr dirty="0"/>
          </a:p>
        </p:txBody>
      </p:sp>
      <p:pic>
        <p:nvPicPr>
          <p:cNvPr id="12" name="Google Shape;141;p17" descr="image.png">
            <a:extLst>
              <a:ext uri="{FF2B5EF4-FFF2-40B4-BE49-F238E27FC236}">
                <a16:creationId xmlns:a16="http://schemas.microsoft.com/office/drawing/2014/main" id="{1C99B9C0-2996-7BE7-D908-718083E25B9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475026" y="2123777"/>
            <a:ext cx="2359417" cy="1611661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45;p17">
            <a:extLst>
              <a:ext uri="{FF2B5EF4-FFF2-40B4-BE49-F238E27FC236}">
                <a16:creationId xmlns:a16="http://schemas.microsoft.com/office/drawing/2014/main" id="{7B4FA861-95D4-FE19-955D-22724A963952}"/>
              </a:ext>
            </a:extLst>
          </p:cNvPr>
          <p:cNvSpPr txBox="1"/>
          <p:nvPr/>
        </p:nvSpPr>
        <p:spPr>
          <a:xfrm>
            <a:off x="4608375" y="2694641"/>
            <a:ext cx="2073668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Recepciona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 las métricas y a su vez se las envía a 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Grafana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.</a:t>
            </a:r>
            <a:endParaRPr lang="en-US" sz="1500" dirty="0">
              <a:solidFill>
                <a:schemeClr val="bg1"/>
              </a:solidFill>
              <a:latin typeface="Urbanist"/>
              <a:sym typeface="Urbanist"/>
            </a:endParaRPr>
          </a:p>
        </p:txBody>
      </p:sp>
      <p:sp>
        <p:nvSpPr>
          <p:cNvPr id="14" name="Google Shape;144;p17">
            <a:extLst>
              <a:ext uri="{FF2B5EF4-FFF2-40B4-BE49-F238E27FC236}">
                <a16:creationId xmlns:a16="http://schemas.microsoft.com/office/drawing/2014/main" id="{01B4A755-147A-574F-B782-222C2F84B630}"/>
              </a:ext>
            </a:extLst>
          </p:cNvPr>
          <p:cNvSpPr txBox="1"/>
          <p:nvPr/>
        </p:nvSpPr>
        <p:spPr>
          <a:xfrm>
            <a:off x="4608375" y="2448419"/>
            <a:ext cx="207366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Prometheus</a:t>
            </a:r>
            <a:endParaRPr dirty="0"/>
          </a:p>
        </p:txBody>
      </p:sp>
      <p:pic>
        <p:nvPicPr>
          <p:cNvPr id="15" name="Google Shape;141;p17" descr="image.png">
            <a:extLst>
              <a:ext uri="{FF2B5EF4-FFF2-40B4-BE49-F238E27FC236}">
                <a16:creationId xmlns:a16="http://schemas.microsoft.com/office/drawing/2014/main" id="{DA53EAB2-079F-4331-9F85-FA50DB09743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536814" y="2063995"/>
            <a:ext cx="2359417" cy="197037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45;p17">
            <a:extLst>
              <a:ext uri="{FF2B5EF4-FFF2-40B4-BE49-F238E27FC236}">
                <a16:creationId xmlns:a16="http://schemas.microsoft.com/office/drawing/2014/main" id="{44C62936-320F-B144-5BF5-64B8C7350FD4}"/>
              </a:ext>
            </a:extLst>
          </p:cNvPr>
          <p:cNvSpPr txBox="1"/>
          <p:nvPr/>
        </p:nvSpPr>
        <p:spPr>
          <a:xfrm>
            <a:off x="9670163" y="2634859"/>
            <a:ext cx="2073668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Convierte datos en 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Dashboards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 y gestiona envío de alertas con Telegram</a:t>
            </a:r>
            <a:endParaRPr lang="en-US" sz="1500" dirty="0">
              <a:solidFill>
                <a:schemeClr val="bg1"/>
              </a:solidFill>
              <a:latin typeface="Urbanist"/>
              <a:sym typeface="Urbanist"/>
            </a:endParaRPr>
          </a:p>
        </p:txBody>
      </p:sp>
      <p:sp>
        <p:nvSpPr>
          <p:cNvPr id="17" name="Google Shape;144;p17">
            <a:extLst>
              <a:ext uri="{FF2B5EF4-FFF2-40B4-BE49-F238E27FC236}">
                <a16:creationId xmlns:a16="http://schemas.microsoft.com/office/drawing/2014/main" id="{0E60F7DC-01A5-ACDC-59E0-AE8986449A64}"/>
              </a:ext>
            </a:extLst>
          </p:cNvPr>
          <p:cNvSpPr txBox="1"/>
          <p:nvPr/>
        </p:nvSpPr>
        <p:spPr>
          <a:xfrm>
            <a:off x="9670163" y="2388637"/>
            <a:ext cx="207366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Grafana</a:t>
            </a:r>
            <a:endParaRPr dirty="0"/>
          </a:p>
        </p:txBody>
      </p:sp>
      <p:sp>
        <p:nvSpPr>
          <p:cNvPr id="18" name="Dodecágono 17">
            <a:extLst>
              <a:ext uri="{FF2B5EF4-FFF2-40B4-BE49-F238E27FC236}">
                <a16:creationId xmlns:a16="http://schemas.microsoft.com/office/drawing/2014/main" id="{9412709A-7BB0-B629-8910-7B272CD7DBAA}"/>
              </a:ext>
            </a:extLst>
          </p:cNvPr>
          <p:cNvSpPr/>
          <p:nvPr/>
        </p:nvSpPr>
        <p:spPr>
          <a:xfrm>
            <a:off x="260714" y="1853009"/>
            <a:ext cx="539646" cy="538439"/>
          </a:xfrm>
          <a:prstGeom prst="dodecagon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9" name="Dodecágono 18">
            <a:extLst>
              <a:ext uri="{FF2B5EF4-FFF2-40B4-BE49-F238E27FC236}">
                <a16:creationId xmlns:a16="http://schemas.microsoft.com/office/drawing/2014/main" id="{2417BC14-686F-88D0-7777-43301C8C79C8}"/>
              </a:ext>
            </a:extLst>
          </p:cNvPr>
          <p:cNvSpPr/>
          <p:nvPr/>
        </p:nvSpPr>
        <p:spPr>
          <a:xfrm>
            <a:off x="4338552" y="1869947"/>
            <a:ext cx="539646" cy="538439"/>
          </a:xfrm>
          <a:prstGeom prst="dodecagon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0" name="Dodecágono 19">
            <a:extLst>
              <a:ext uri="{FF2B5EF4-FFF2-40B4-BE49-F238E27FC236}">
                <a16:creationId xmlns:a16="http://schemas.microsoft.com/office/drawing/2014/main" id="{D2322EC2-1D70-D6C1-6954-9CD4625E8DF8}"/>
              </a:ext>
            </a:extLst>
          </p:cNvPr>
          <p:cNvSpPr/>
          <p:nvPr/>
        </p:nvSpPr>
        <p:spPr>
          <a:xfrm>
            <a:off x="9377684" y="1829750"/>
            <a:ext cx="539646" cy="538439"/>
          </a:xfrm>
          <a:prstGeom prst="dodecagon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6436D650-07F3-5D69-2287-741466B9B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5135" y="3031889"/>
            <a:ext cx="1272505" cy="1272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6EB4128B-FEAD-5D0B-F8F2-A6696CB2ADC0}"/>
              </a:ext>
            </a:extLst>
          </p:cNvPr>
          <p:cNvSpPr txBox="1"/>
          <p:nvPr/>
        </p:nvSpPr>
        <p:spPr>
          <a:xfrm>
            <a:off x="2967704" y="4263525"/>
            <a:ext cx="2231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10.2.7.5</a:t>
            </a:r>
          </a:p>
        </p:txBody>
      </p:sp>
      <p:pic>
        <p:nvPicPr>
          <p:cNvPr id="23" name="Picture 6">
            <a:extLst>
              <a:ext uri="{FF2B5EF4-FFF2-40B4-BE49-F238E27FC236}">
                <a16:creationId xmlns:a16="http://schemas.microsoft.com/office/drawing/2014/main" id="{646CC85E-80E7-FA85-8F3E-59784520C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690" y="2331866"/>
            <a:ext cx="686707" cy="686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8">
            <a:extLst>
              <a:ext uri="{FF2B5EF4-FFF2-40B4-BE49-F238E27FC236}">
                <a16:creationId xmlns:a16="http://schemas.microsoft.com/office/drawing/2014/main" id="{EB4CD6C7-743E-FE57-61D1-1B1DFB6EBE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4773" y="4614314"/>
            <a:ext cx="790462" cy="84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3709D7D4-1A37-388B-4547-BB006ABE7B83}"/>
              </a:ext>
            </a:extLst>
          </p:cNvPr>
          <p:cNvSpPr txBox="1"/>
          <p:nvPr/>
        </p:nvSpPr>
        <p:spPr>
          <a:xfrm>
            <a:off x="7576308" y="4304394"/>
            <a:ext cx="2231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10.2.7.99</a:t>
            </a: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6AD9E5B1-DF26-7489-1E25-12C46302B1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3636" y="1935765"/>
            <a:ext cx="1270962" cy="1270962"/>
          </a:xfrm>
          <a:prstGeom prst="rect">
            <a:avLst/>
          </a:prstGeom>
        </p:spPr>
      </p:pic>
      <p:pic>
        <p:nvPicPr>
          <p:cNvPr id="28" name="Picture 10">
            <a:extLst>
              <a:ext uri="{FF2B5EF4-FFF2-40B4-BE49-F238E27FC236}">
                <a16:creationId xmlns:a16="http://schemas.microsoft.com/office/drawing/2014/main" id="{F6BD5475-89CA-0A16-96AC-6F97C9F9C3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5629" y="4586527"/>
            <a:ext cx="896338" cy="896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12">
            <a:extLst>
              <a:ext uri="{FF2B5EF4-FFF2-40B4-BE49-F238E27FC236}">
                <a16:creationId xmlns:a16="http://schemas.microsoft.com/office/drawing/2014/main" id="{E1AF966C-6A8B-4B39-D060-8BE687045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7468" y="4670151"/>
            <a:ext cx="776739" cy="768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Flecha: a la derecha 29">
            <a:extLst>
              <a:ext uri="{FF2B5EF4-FFF2-40B4-BE49-F238E27FC236}">
                <a16:creationId xmlns:a16="http://schemas.microsoft.com/office/drawing/2014/main" id="{BB6F8E28-96EE-2BF4-CE33-9C65A6C0AFD5}"/>
              </a:ext>
            </a:extLst>
          </p:cNvPr>
          <p:cNvSpPr/>
          <p:nvPr/>
        </p:nvSpPr>
        <p:spPr>
          <a:xfrm>
            <a:off x="4441023" y="4632857"/>
            <a:ext cx="2581844" cy="8036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dirty="0"/>
              <a:t>Métricas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2B65AA2D-1961-49C2-B0D3-46058BB69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4896" y="4544027"/>
            <a:ext cx="981335" cy="981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4">
            <a:extLst>
              <a:ext uri="{FF2B5EF4-FFF2-40B4-BE49-F238E27FC236}">
                <a16:creationId xmlns:a16="http://schemas.microsoft.com/office/drawing/2014/main" id="{0BF1261E-85CB-9278-A57C-DCC081319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9376" y="3071420"/>
            <a:ext cx="1272505" cy="1272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4777E47D-93F4-D8BC-64AF-B90BD9860BD4}"/>
              </a:ext>
            </a:extLst>
          </p:cNvPr>
          <p:cNvSpPr/>
          <p:nvPr/>
        </p:nvSpPr>
        <p:spPr>
          <a:xfrm>
            <a:off x="9190382" y="4651405"/>
            <a:ext cx="1672944" cy="80367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dirty="0"/>
              <a:t>Alerta</a:t>
            </a:r>
          </a:p>
        </p:txBody>
      </p:sp>
    </p:spTree>
    <p:extLst>
      <p:ext uri="{BB962C8B-B14F-4D97-AF65-F5344CB8AC3E}">
        <p14:creationId xmlns:p14="http://schemas.microsoft.com/office/powerpoint/2010/main" val="3908306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3;p15">
            <a:extLst>
              <a:ext uri="{FF2B5EF4-FFF2-40B4-BE49-F238E27FC236}">
                <a16:creationId xmlns:a16="http://schemas.microsoft.com/office/drawing/2014/main" id="{9A463A7D-F8E2-EF37-7BD5-3D9FF33C83CE}"/>
              </a:ext>
            </a:extLst>
          </p:cNvPr>
          <p:cNvSpPr txBox="1"/>
          <p:nvPr/>
        </p:nvSpPr>
        <p:spPr>
          <a:xfrm>
            <a:off x="771524" y="581025"/>
            <a:ext cx="1083945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Herramientas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Apoyo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– </a:t>
            </a:r>
            <a:r>
              <a:rPr lang="en-US" sz="36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Firewall</a:t>
            </a:r>
            <a:endParaRPr lang="en-US" sz="36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Google Shape;124;p15">
            <a:extLst>
              <a:ext uri="{FF2B5EF4-FFF2-40B4-BE49-F238E27FC236}">
                <a16:creationId xmlns:a16="http://schemas.microsoft.com/office/drawing/2014/main" id="{5EDB60F0-87D5-2575-547F-D170ED0F77BA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CF186418-F49C-43A0-F562-24E981634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8186" y="1229788"/>
            <a:ext cx="2557252" cy="1508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oogle Shape;141;p17" descr="image.png">
            <a:extLst>
              <a:ext uri="{FF2B5EF4-FFF2-40B4-BE49-F238E27FC236}">
                <a16:creationId xmlns:a16="http://schemas.microsoft.com/office/drawing/2014/main" id="{CBFCB7BC-8CEB-E04B-B057-DFC7091DE42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5676" y="1953016"/>
            <a:ext cx="3463510" cy="341650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45;p17">
            <a:extLst>
              <a:ext uri="{FF2B5EF4-FFF2-40B4-BE49-F238E27FC236}">
                <a16:creationId xmlns:a16="http://schemas.microsoft.com/office/drawing/2014/main" id="{B7BA161B-8735-81B4-682E-ACF3CFF8F972}"/>
              </a:ext>
            </a:extLst>
          </p:cNvPr>
          <p:cNvSpPr txBox="1"/>
          <p:nvPr/>
        </p:nvSpPr>
        <p:spPr>
          <a:xfrm>
            <a:off x="1161425" y="2657867"/>
            <a:ext cx="2744452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pt-BR" sz="1500" dirty="0">
                <a:solidFill>
                  <a:schemeClr val="bg1"/>
                </a:solidFill>
                <a:latin typeface="Urbanist"/>
                <a:sym typeface="Urbanist"/>
              </a:rPr>
              <a:t>Tráfico Saliente (</a:t>
            </a:r>
            <a:r>
              <a:rPr lang="pt-BR" sz="1500" dirty="0" err="1">
                <a:solidFill>
                  <a:schemeClr val="bg1"/>
                </a:solidFill>
                <a:latin typeface="Urbanist"/>
                <a:sym typeface="Urbanist"/>
              </a:rPr>
              <a:t>Outgoing</a:t>
            </a:r>
            <a:r>
              <a:rPr lang="pt-BR" sz="1500" dirty="0">
                <a:solidFill>
                  <a:schemeClr val="bg1"/>
                </a:solidFill>
                <a:latin typeface="Urbanist"/>
                <a:sym typeface="Urbanist"/>
              </a:rPr>
              <a:t>): Permitido todo por </a:t>
            </a:r>
            <a:r>
              <a:rPr lang="pt-BR" sz="1500" dirty="0" err="1">
                <a:solidFill>
                  <a:schemeClr val="bg1"/>
                </a:solidFill>
                <a:latin typeface="Urbanist"/>
                <a:sym typeface="Urbanist"/>
              </a:rPr>
              <a:t>defecto</a:t>
            </a:r>
            <a:r>
              <a:rPr lang="pt-BR" sz="1500" dirty="0">
                <a:solidFill>
                  <a:schemeClr val="bg1"/>
                </a:solidFill>
                <a:latin typeface="Urbanist"/>
                <a:sym typeface="Urbanist"/>
              </a:rPr>
              <a:t> 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pt-BR" sz="1500" dirty="0">
                <a:solidFill>
                  <a:schemeClr val="bg1"/>
                </a:solidFill>
                <a:latin typeface="Urbanist"/>
                <a:sym typeface="Urbanist"/>
              </a:rPr>
              <a:t>Tráfico Entrante (</a:t>
            </a:r>
            <a:r>
              <a:rPr lang="pt-BR" sz="1500" dirty="0" err="1">
                <a:solidFill>
                  <a:schemeClr val="bg1"/>
                </a:solidFill>
                <a:latin typeface="Urbanist"/>
                <a:sym typeface="Urbanist"/>
              </a:rPr>
              <a:t>Incoming</a:t>
            </a:r>
            <a:r>
              <a:rPr lang="pt-BR" sz="1500" dirty="0">
                <a:solidFill>
                  <a:schemeClr val="bg1"/>
                </a:solidFill>
                <a:latin typeface="Urbanist"/>
                <a:sym typeface="Urbanist"/>
              </a:rPr>
              <a:t>): Denegado todo por </a:t>
            </a:r>
            <a:r>
              <a:rPr lang="pt-BR" sz="1500" dirty="0" err="1">
                <a:solidFill>
                  <a:schemeClr val="bg1"/>
                </a:solidFill>
                <a:latin typeface="Urbanist"/>
                <a:sym typeface="Urbanist"/>
              </a:rPr>
              <a:t>defecto</a:t>
            </a:r>
            <a:r>
              <a:rPr lang="pt-BR" sz="1500" dirty="0">
                <a:solidFill>
                  <a:schemeClr val="bg1"/>
                </a:solidFill>
                <a:latin typeface="Urbanist"/>
                <a:sym typeface="Urbanist"/>
              </a:rPr>
              <a:t>.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Auditoría de Puertos y Servicios en Escucha: Documentación oficial y  comandos “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ss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 -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tulnp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” y “</a:t>
            </a:r>
            <a:r>
              <a:rPr lang="es-ES" sz="1500" dirty="0" err="1">
                <a:solidFill>
                  <a:schemeClr val="bg1"/>
                </a:solidFill>
                <a:latin typeface="Urbanist"/>
                <a:sym typeface="Urbanist"/>
              </a:rPr>
              <a:t>lsof</a:t>
            </a:r>
            <a:r>
              <a:rPr lang="es-ES" sz="1500" dirty="0">
                <a:solidFill>
                  <a:schemeClr val="bg1"/>
                </a:solidFill>
                <a:latin typeface="Urbanist"/>
                <a:sym typeface="Urbanist"/>
              </a:rPr>
              <a:t>”.</a:t>
            </a:r>
            <a:endParaRPr lang="en-US" sz="1500" dirty="0">
              <a:solidFill>
                <a:schemeClr val="bg1"/>
              </a:solidFill>
              <a:latin typeface="Urbanist"/>
              <a:sym typeface="Urbanist"/>
            </a:endParaRPr>
          </a:p>
        </p:txBody>
      </p:sp>
      <p:sp>
        <p:nvSpPr>
          <p:cNvPr id="7" name="Google Shape;144;p17">
            <a:extLst>
              <a:ext uri="{FF2B5EF4-FFF2-40B4-BE49-F238E27FC236}">
                <a16:creationId xmlns:a16="http://schemas.microsoft.com/office/drawing/2014/main" id="{2FC999F9-9B11-B320-96FB-E07007438962}"/>
              </a:ext>
            </a:extLst>
          </p:cNvPr>
          <p:cNvSpPr txBox="1"/>
          <p:nvPr/>
        </p:nvSpPr>
        <p:spPr>
          <a:xfrm>
            <a:off x="1161425" y="2170517"/>
            <a:ext cx="3882452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UFW</a:t>
            </a:r>
            <a:endParaRPr dirty="0"/>
          </a:p>
        </p:txBody>
      </p:sp>
      <p:pic>
        <p:nvPicPr>
          <p:cNvPr id="8" name="Google Shape;141;p17" descr="image.png">
            <a:extLst>
              <a:ext uri="{FF2B5EF4-FFF2-40B4-BE49-F238E27FC236}">
                <a16:creationId xmlns:a16="http://schemas.microsoft.com/office/drawing/2014/main" id="{E2857A4E-F183-7AF9-D0F4-7008E39A621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98747" y="1953016"/>
            <a:ext cx="3661974" cy="3311697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145;p17">
            <a:extLst>
              <a:ext uri="{FF2B5EF4-FFF2-40B4-BE49-F238E27FC236}">
                <a16:creationId xmlns:a16="http://schemas.microsoft.com/office/drawing/2014/main" id="{D7E891EA-17F4-EA27-8147-A2978FFD4462}"/>
              </a:ext>
            </a:extLst>
          </p:cNvPr>
          <p:cNvSpPr txBox="1"/>
          <p:nvPr/>
        </p:nvSpPr>
        <p:spPr>
          <a:xfrm>
            <a:off x="8191681" y="2536285"/>
            <a:ext cx="3176978" cy="2262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pt-BR" sz="1500" dirty="0">
                <a:solidFill>
                  <a:schemeClr val="bg1"/>
                </a:solidFill>
                <a:latin typeface="Urbanist"/>
                <a:sym typeface="Urbanist"/>
              </a:rPr>
              <a:t>Gestión y Administración: SSH, FTP y HTTP/S.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Arranque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y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Despliegue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: PXE/TFTP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Transferencia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de </a:t>
            </a:r>
            <a:r>
              <a:rPr lang="en-US" sz="1500" dirty="0" err="1">
                <a:solidFill>
                  <a:schemeClr val="bg1"/>
                </a:solidFill>
                <a:latin typeface="Urbanist"/>
                <a:sym typeface="Urbanist"/>
              </a:rPr>
              <a:t>Imágenes</a:t>
            </a:r>
            <a:r>
              <a:rPr lang="en-US" sz="1500" dirty="0">
                <a:solidFill>
                  <a:schemeClr val="bg1"/>
                </a:solidFill>
                <a:latin typeface="Urbanist"/>
                <a:sym typeface="Urbanist"/>
              </a:rPr>
              <a:t> (NFS)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s-ES" sz="1500" dirty="0" err="1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Multicast</a:t>
            </a:r>
            <a:r>
              <a:rPr lang="es-ES" sz="1500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 49152:65535 UDP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Monitorización</a:t>
            </a:r>
            <a:r>
              <a:rPr lang="en-US" sz="1500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: 9100 TCP</a:t>
            </a:r>
          </a:p>
          <a:p>
            <a:pPr marL="285750" lvl="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MariaDB: No se </a:t>
            </a:r>
            <a:r>
              <a:rPr lang="en-US" sz="1500" dirty="0" err="1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abre</a:t>
            </a:r>
            <a:r>
              <a:rPr lang="en-US" sz="1500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"/>
              </a:rPr>
              <a:t> al exterior.</a:t>
            </a:r>
          </a:p>
        </p:txBody>
      </p:sp>
      <p:sp>
        <p:nvSpPr>
          <p:cNvPr id="10" name="Google Shape;144;p17">
            <a:extLst>
              <a:ext uri="{FF2B5EF4-FFF2-40B4-BE49-F238E27FC236}">
                <a16:creationId xmlns:a16="http://schemas.microsoft.com/office/drawing/2014/main" id="{AB1B58E3-514D-5A45-ABE8-1FF28D37AF95}"/>
              </a:ext>
            </a:extLst>
          </p:cNvPr>
          <p:cNvSpPr txBox="1"/>
          <p:nvPr/>
        </p:nvSpPr>
        <p:spPr>
          <a:xfrm>
            <a:off x="8191681" y="2201763"/>
            <a:ext cx="3882452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Categorías</a:t>
            </a:r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Puertos</a:t>
            </a:r>
            <a:endParaRPr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C0E0D501-0846-0408-C774-E0998B52E4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2711" y="2464834"/>
            <a:ext cx="3097076" cy="309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21E8D866-2D1C-1C31-5F18-7E448CFD7C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2711" y="4013372"/>
            <a:ext cx="3097076" cy="309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43208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3;p15">
            <a:extLst>
              <a:ext uri="{FF2B5EF4-FFF2-40B4-BE49-F238E27FC236}">
                <a16:creationId xmlns:a16="http://schemas.microsoft.com/office/drawing/2014/main" id="{9BAD13E4-A903-8E5F-6875-93E78C75A65D}"/>
              </a:ext>
            </a:extLst>
          </p:cNvPr>
          <p:cNvSpPr txBox="1"/>
          <p:nvPr/>
        </p:nvSpPr>
        <p:spPr>
          <a:xfrm>
            <a:off x="771524" y="581025"/>
            <a:ext cx="1083945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Herramientas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Apoyo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– </a:t>
            </a:r>
            <a:r>
              <a:rPr lang="en-US" sz="36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SSH Hardening</a:t>
            </a:r>
            <a:endParaRPr lang="en-US" sz="36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Google Shape;124;p15">
            <a:extLst>
              <a:ext uri="{FF2B5EF4-FFF2-40B4-BE49-F238E27FC236}">
                <a16:creationId xmlns:a16="http://schemas.microsoft.com/office/drawing/2014/main" id="{387BBF3E-C21F-ACE6-F90F-E0EBEC841BD2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Google Shape;141;p17" descr="image.png">
            <a:extLst>
              <a:ext uri="{FF2B5EF4-FFF2-40B4-BE49-F238E27FC236}">
                <a16:creationId xmlns:a16="http://schemas.microsoft.com/office/drawing/2014/main" id="{E131412B-A5B6-41A8-C2B0-5850909E49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9367" y="2602698"/>
            <a:ext cx="3532439" cy="2214233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44;p17">
            <a:extLst>
              <a:ext uri="{FF2B5EF4-FFF2-40B4-BE49-F238E27FC236}">
                <a16:creationId xmlns:a16="http://schemas.microsoft.com/office/drawing/2014/main" id="{F055017A-E1BC-54DA-3BEC-D96CC538CC9E}"/>
              </a:ext>
            </a:extLst>
          </p:cNvPr>
          <p:cNvSpPr txBox="1"/>
          <p:nvPr/>
        </p:nvSpPr>
        <p:spPr>
          <a:xfrm>
            <a:off x="1066412" y="2895546"/>
            <a:ext cx="3882452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Autenticación</a:t>
            </a:r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por</a:t>
            </a:r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Llaves:</a:t>
            </a:r>
          </a:p>
          <a:p>
            <a:endParaRPr lang="en-US" sz="1600" b="1" dirty="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Prohibición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del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uso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contraseñas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</a:p>
          <a:p>
            <a:endParaRPr lang="en-US" sz="1600" dirty="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Forzado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uso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llaves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</a:p>
          <a:p>
            <a:endParaRPr lang="en-US" sz="1600" dirty="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Par de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llaves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con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algoritmo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Ed25519</a:t>
            </a:r>
            <a:endParaRPr dirty="0"/>
          </a:p>
        </p:txBody>
      </p:sp>
      <p:pic>
        <p:nvPicPr>
          <p:cNvPr id="4" name="Google Shape;141;p17" descr="image.png">
            <a:extLst>
              <a:ext uri="{FF2B5EF4-FFF2-40B4-BE49-F238E27FC236}">
                <a16:creationId xmlns:a16="http://schemas.microsoft.com/office/drawing/2014/main" id="{EE960F15-88F4-D4C2-8BAF-BE6076EC8D9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345551" y="2602698"/>
            <a:ext cx="3532439" cy="2214233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44;p17">
            <a:extLst>
              <a:ext uri="{FF2B5EF4-FFF2-40B4-BE49-F238E27FC236}">
                <a16:creationId xmlns:a16="http://schemas.microsoft.com/office/drawing/2014/main" id="{499915B2-F83C-835A-B21D-6AB70E752B02}"/>
              </a:ext>
            </a:extLst>
          </p:cNvPr>
          <p:cNvSpPr txBox="1"/>
          <p:nvPr/>
        </p:nvSpPr>
        <p:spPr>
          <a:xfrm>
            <a:off x="7562596" y="2895546"/>
            <a:ext cx="3882452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ES" sz="16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Prohibición de acceso con ROOT:</a:t>
            </a:r>
          </a:p>
          <a:p>
            <a:endParaRPr lang="es-ES" sz="16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s-ES" sz="160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Creación de un usuario con permisos necesarios.</a:t>
            </a:r>
            <a:endParaRPr lang="es-ES" sz="1600" dirty="0">
              <a:solidFill>
                <a:schemeClr val="bg1"/>
              </a:solidFill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ED65980-834E-4E1E-02BB-15E6F2B462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514" y="2416602"/>
            <a:ext cx="2400329" cy="2400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481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3;p15">
            <a:extLst>
              <a:ext uri="{FF2B5EF4-FFF2-40B4-BE49-F238E27FC236}">
                <a16:creationId xmlns:a16="http://schemas.microsoft.com/office/drawing/2014/main" id="{4CCDD1FD-8D54-1081-FA96-5686735A3CDC}"/>
              </a:ext>
            </a:extLst>
          </p:cNvPr>
          <p:cNvSpPr txBox="1"/>
          <p:nvPr/>
        </p:nvSpPr>
        <p:spPr>
          <a:xfrm>
            <a:off x="771524" y="581025"/>
            <a:ext cx="1083945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Herramientas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3600" b="1" dirty="0">
                <a:solidFill>
                  <a:schemeClr val="accent6">
                    <a:lumMod val="20000"/>
                    <a:lumOff val="80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Post </a:t>
            </a:r>
            <a:r>
              <a:rPr lang="en-US" sz="3600" b="1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Despliegue</a:t>
            </a:r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Google Shape;124;p15">
            <a:extLst>
              <a:ext uri="{FF2B5EF4-FFF2-40B4-BE49-F238E27FC236}">
                <a16:creationId xmlns:a16="http://schemas.microsoft.com/office/drawing/2014/main" id="{671E3346-BC26-812C-AE9F-BAD4FC1D7A60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Google Shape;141;p17" descr="image.png">
            <a:extLst>
              <a:ext uri="{FF2B5EF4-FFF2-40B4-BE49-F238E27FC236}">
                <a16:creationId xmlns:a16="http://schemas.microsoft.com/office/drawing/2014/main" id="{A37DCA80-367F-B3DA-0E84-5E4CFD54172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48040" y="1742877"/>
            <a:ext cx="2736175" cy="371324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44;p17">
            <a:extLst>
              <a:ext uri="{FF2B5EF4-FFF2-40B4-BE49-F238E27FC236}">
                <a16:creationId xmlns:a16="http://schemas.microsoft.com/office/drawing/2014/main" id="{9EC0726B-C6E3-1971-8AD2-25004C195238}"/>
              </a:ext>
            </a:extLst>
          </p:cNvPr>
          <p:cNvSpPr txBox="1"/>
          <p:nvPr/>
        </p:nvSpPr>
        <p:spPr>
          <a:xfrm>
            <a:off x="1365086" y="2035725"/>
            <a:ext cx="2258689" cy="3200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Postdownload</a:t>
            </a:r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scripts:</a:t>
            </a:r>
          </a:p>
          <a:p>
            <a:endParaRPr lang="en-US" sz="1600" b="1" dirty="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Se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ejecutan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tras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despliegue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la imagen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host.</a:t>
            </a:r>
          </a:p>
          <a:p>
            <a:endParaRPr lang="en-US" sz="1600" dirty="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Inyecta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archivo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“unattend.xml”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host y lo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modifica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(hostname).</a:t>
            </a:r>
          </a:p>
          <a:p>
            <a:endParaRPr lang="en-US" sz="1600" dirty="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Permite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adaptar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imágenes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fácilmente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  <p:pic>
        <p:nvPicPr>
          <p:cNvPr id="6" name="Google Shape;141;p17" descr="image.png">
            <a:extLst>
              <a:ext uri="{FF2B5EF4-FFF2-40B4-BE49-F238E27FC236}">
                <a16:creationId xmlns:a16="http://schemas.microsoft.com/office/drawing/2014/main" id="{AE554AF9-3E3D-B98B-F306-75C34486E82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38316" y="1742878"/>
            <a:ext cx="2913558" cy="373994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44;p17">
            <a:extLst>
              <a:ext uri="{FF2B5EF4-FFF2-40B4-BE49-F238E27FC236}">
                <a16:creationId xmlns:a16="http://schemas.microsoft.com/office/drawing/2014/main" id="{7B92AA5C-58FB-91E2-D8BE-6FC35A91F3B5}"/>
              </a:ext>
            </a:extLst>
          </p:cNvPr>
          <p:cNvSpPr txBox="1"/>
          <p:nvPr/>
        </p:nvSpPr>
        <p:spPr>
          <a:xfrm>
            <a:off x="4755363" y="2035725"/>
            <a:ext cx="2506048" cy="2708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FOG Client:</a:t>
            </a:r>
          </a:p>
          <a:p>
            <a:endParaRPr lang="en-US" sz="1600" b="1" dirty="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Vincula al host con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servidor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FOG.</a:t>
            </a:r>
          </a:p>
          <a:p>
            <a:endParaRPr lang="en-US" sz="1600" dirty="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Permite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ordenar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tareas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ejecución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Snapins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desde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el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servidor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</a:p>
          <a:p>
            <a:endParaRPr lang="en-US" sz="1600" dirty="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Control: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apagado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cierre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sesión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,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cambio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hostname.</a:t>
            </a:r>
            <a:endParaRPr dirty="0"/>
          </a:p>
        </p:txBody>
      </p:sp>
      <p:pic>
        <p:nvPicPr>
          <p:cNvPr id="8" name="Google Shape;141;p17" descr="image.png">
            <a:extLst>
              <a:ext uri="{FF2B5EF4-FFF2-40B4-BE49-F238E27FC236}">
                <a16:creationId xmlns:a16="http://schemas.microsoft.com/office/drawing/2014/main" id="{3CD65DD3-4ACF-8403-36FA-3244822F011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05976" y="1742877"/>
            <a:ext cx="2830966" cy="371324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144;p17">
            <a:extLst>
              <a:ext uri="{FF2B5EF4-FFF2-40B4-BE49-F238E27FC236}">
                <a16:creationId xmlns:a16="http://schemas.microsoft.com/office/drawing/2014/main" id="{6975E734-9F5F-6255-633E-B2BAC3E81A55}"/>
              </a:ext>
            </a:extLst>
          </p:cNvPr>
          <p:cNvSpPr txBox="1"/>
          <p:nvPr/>
        </p:nvSpPr>
        <p:spPr>
          <a:xfrm>
            <a:off x="8256215" y="2035725"/>
            <a:ext cx="2546255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Snapins</a:t>
            </a:r>
            <a:r>
              <a:rPr lang="en-US" sz="1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</a:p>
          <a:p>
            <a:endParaRPr lang="en-US" sz="1600" b="1" dirty="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Instalan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software de forma </a:t>
            </a:r>
            <a:r>
              <a:rPr lang="en-U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silenciosa</a:t>
            </a:r>
            <a:r>
              <a:rPr lang="en-U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</a:p>
          <a:p>
            <a:endParaRPr lang="en-US" sz="1600" dirty="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r>
              <a:rPr lang="es-E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Soportan scripts, instaladores y paquetes complejos (</a:t>
            </a:r>
            <a:r>
              <a:rPr lang="es-ES" sz="1600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SnapinPacks</a:t>
            </a:r>
            <a:r>
              <a:rPr lang="es-ES" sz="1600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).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99226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3;p15">
            <a:extLst>
              <a:ext uri="{FF2B5EF4-FFF2-40B4-BE49-F238E27FC236}">
                <a16:creationId xmlns:a16="http://schemas.microsoft.com/office/drawing/2014/main" id="{C09F5CE4-B9DE-2EE4-CB2A-C35887326503}"/>
              </a:ext>
            </a:extLst>
          </p:cNvPr>
          <p:cNvSpPr txBox="1"/>
          <p:nvPr/>
        </p:nvSpPr>
        <p:spPr>
          <a:xfrm>
            <a:off x="771524" y="581025"/>
            <a:ext cx="10839451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360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Demostración</a:t>
            </a:r>
            <a:r>
              <a:rPr lang="en-US" sz="360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de </a:t>
            </a:r>
            <a:r>
              <a:rPr lang="en-US" sz="3600" b="1" dirty="0" err="1">
                <a:solidFill>
                  <a:schemeClr val="accent6">
                    <a:lumMod val="20000"/>
                    <a:lumOff val="80000"/>
                  </a:schemeClr>
                </a:solidFill>
                <a:latin typeface="Urbanist"/>
                <a:ea typeface="Urbanist"/>
                <a:cs typeface="Urbanist"/>
                <a:sym typeface="Urbanist"/>
              </a:rPr>
              <a:t>funcionamiento</a:t>
            </a:r>
            <a:endParaRPr lang="en-US" sz="3600" dirty="0">
              <a:solidFill>
                <a:schemeClr val="accent6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Google Shape;124;p15">
            <a:extLst>
              <a:ext uri="{FF2B5EF4-FFF2-40B4-BE49-F238E27FC236}">
                <a16:creationId xmlns:a16="http://schemas.microsoft.com/office/drawing/2014/main" id="{8ECC1A18-2E18-29BC-D616-FB139DF3EFBE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E59774A-6216-9C77-59D2-399D32A263C7}"/>
              </a:ext>
            </a:extLst>
          </p:cNvPr>
          <p:cNvSpPr txBox="1"/>
          <p:nvPr/>
        </p:nvSpPr>
        <p:spPr>
          <a:xfrm>
            <a:off x="3340552" y="1621648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solidFill>
                  <a:schemeClr val="bg1"/>
                </a:solidFill>
                <a:hlinkClick r:id="rId2"/>
              </a:rPr>
              <a:t>https://www.youtube.com/watch?v=vzDG5FsjIes</a:t>
            </a:r>
            <a:r>
              <a:rPr lang="es-ES" dirty="0">
                <a:solidFill>
                  <a:schemeClr val="bg1"/>
                </a:solidFill>
              </a:rPr>
              <a:t> </a:t>
            </a:r>
          </a:p>
        </p:txBody>
      </p:sp>
      <p:pic>
        <p:nvPicPr>
          <p:cNvPr id="12" name="Imagen 11">
            <a:hlinkClick r:id="rId2"/>
            <a:extLst>
              <a:ext uri="{FF2B5EF4-FFF2-40B4-BE49-F238E27FC236}">
                <a16:creationId xmlns:a16="http://schemas.microsoft.com/office/drawing/2014/main" id="{3BCCBDC8-75F3-096C-C2EC-01F47B22B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5100" y="2245376"/>
            <a:ext cx="3499758" cy="3499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434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50;p24">
            <a:extLst>
              <a:ext uri="{FF2B5EF4-FFF2-40B4-BE49-F238E27FC236}">
                <a16:creationId xmlns:a16="http://schemas.microsoft.com/office/drawing/2014/main" id="{E7418FD7-627A-ADDC-B074-0356693CAFB6}"/>
              </a:ext>
            </a:extLst>
          </p:cNvPr>
          <p:cNvSpPr txBox="1"/>
          <p:nvPr/>
        </p:nvSpPr>
        <p:spPr>
          <a:xfrm>
            <a:off x="305276" y="581025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¿</a:t>
            </a:r>
            <a:r>
              <a:rPr lang="en-US" sz="7500" b="1" i="0" u="none" strike="noStrike" cap="none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Preguntas</a:t>
            </a:r>
            <a:r>
              <a:rPr lang="en-US" sz="7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?</a:t>
            </a:r>
            <a:endParaRPr dirty="0"/>
          </a:p>
        </p:txBody>
      </p:sp>
      <p:sp>
        <p:nvSpPr>
          <p:cNvPr id="5" name="Google Shape;251;p24">
            <a:extLst>
              <a:ext uri="{FF2B5EF4-FFF2-40B4-BE49-F238E27FC236}">
                <a16:creationId xmlns:a16="http://schemas.microsoft.com/office/drawing/2014/main" id="{1F1DB8A1-B2A7-FB69-DB75-A467527D8E6B}"/>
              </a:ext>
            </a:extLst>
          </p:cNvPr>
          <p:cNvSpPr txBox="1"/>
          <p:nvPr/>
        </p:nvSpPr>
        <p:spPr>
          <a:xfrm>
            <a:off x="581025" y="2265045"/>
            <a:ext cx="11029950" cy="560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Gracias </a:t>
            </a:r>
            <a:r>
              <a:rPr lang="en-US" sz="26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por</a:t>
            </a:r>
            <a:r>
              <a:rPr lang="en-US" sz="26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26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su</a:t>
            </a:r>
            <a:r>
              <a:rPr lang="en-US" sz="26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26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atención</a:t>
            </a:r>
            <a:endParaRPr sz="2600" dirty="0"/>
          </a:p>
        </p:txBody>
      </p:sp>
    </p:spTree>
    <p:extLst>
      <p:ext uri="{BB962C8B-B14F-4D97-AF65-F5344CB8AC3E}">
        <p14:creationId xmlns:p14="http://schemas.microsoft.com/office/powerpoint/2010/main" val="31768268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1023</TotalTime>
  <Words>834</Words>
  <Application>Microsoft Office PowerPoint</Application>
  <PresentationFormat>Panorámica</PresentationFormat>
  <Paragraphs>154</Paragraphs>
  <Slides>14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Urbanist</vt:lpstr>
      <vt:lpstr>Tema de Office</vt:lpstr>
      <vt:lpstr>IMPLANTACIÓN DE SERVIDOR PXE BASADO EN FOG PROJECT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Cristóbal Suárez Abad</dc:creator>
  <cp:lastModifiedBy>UsuarioASIR</cp:lastModifiedBy>
  <cp:revision>57</cp:revision>
  <dcterms:created xsi:type="dcterms:W3CDTF">2026-05-09T14:45:49Z</dcterms:created>
  <dcterms:modified xsi:type="dcterms:W3CDTF">2026-05-13T10:56:22Z</dcterms:modified>
</cp:coreProperties>
</file>