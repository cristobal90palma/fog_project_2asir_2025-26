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67" r:id="rId4"/>
    <p:sldId id="266" r:id="rId5"/>
    <p:sldId id="265" r:id="rId6"/>
    <p:sldId id="271" r:id="rId7"/>
    <p:sldId id="272" r:id="rId8"/>
    <p:sldId id="275" r:id="rId9"/>
    <p:sldId id="268" r:id="rId10"/>
    <p:sldId id="270" r:id="rId11"/>
    <p:sldId id="276" r:id="rId12"/>
    <p:sldId id="278" r:id="rId13"/>
    <p:sldId id="27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1" autoAdjust="0"/>
    <p:restoredTop sz="94660"/>
  </p:normalViewPr>
  <p:slideViewPr>
    <p:cSldViewPr snapToGrid="0">
      <p:cViewPr varScale="1">
        <p:scale>
          <a:sx n="64" d="100"/>
          <a:sy n="64" d="100"/>
        </p:scale>
        <p:origin x="8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DAA06-8256-4542-A0E4-DFE02A5B4FA4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C0475-F8A2-4794-82B6-A7D7CAB0CC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3651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04FF53B-01F6-A6FD-6AC6-AB4918ED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41D3F139-7362-41C7-4E43-200C76B3A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44C830F3-629F-0723-0E63-23DCE914A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1369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BFF97-4059-2021-4D12-4CA932773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419B99-4DF5-8C6B-6FAA-10E53CD3F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7FD9A3-A017-78E5-22C1-89A9192D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0556F8-EC36-F9A2-E4E1-F19B364F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4E4C23-D682-CE5A-6456-1B120834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52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1D666-B3DA-12D7-B938-A9993A4C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741926-57CE-F0A7-2747-EF46A493A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86CE6C-FF8E-22DE-F1FA-1E22EFF4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D435C-3302-9A67-ABC7-F111ADE5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01F00-7B27-DAB5-6DCC-F253812D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085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ABC45-72D0-4BFE-2B90-E3698CE1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0403C2-F198-F944-DB54-94A1D8A51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BD62D1-BEF1-A672-DA9D-016F4C94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5B0F0-A60A-09A3-7F6E-EA74DA2AE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39D974-3C79-0C85-F4AC-3F934A7B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824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2B820-9AE3-E709-5146-8E79FE7F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08335-757E-C026-4AB7-4EA06D025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AA5684-00A9-5E16-A474-E1D218B73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A78C2B-166E-4972-B9AB-C5C4DD41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6F64C7-0FE1-4930-12D9-F46FE9B6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7A341C-5306-E9BE-D0BF-2C0191D2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88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3744A-3260-4D6A-8F8E-CCF06D75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68A02E-EC73-8576-43C3-9D2D3736B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FE184F-91D4-C223-35F9-FD7053562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7D8DB87-44D9-6C01-7CA5-971988BC3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DD43A8-1E2F-1722-9143-A26BAEC71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9A5E79-4EBF-9797-00FB-6C01963C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3F50FFF-03C0-7B63-8DB4-7A12F397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E3122FE-B198-1C8C-942E-FAB3D4AD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21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EF327-A8CE-3B9B-E5ED-83096649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7D7D6A-C361-0538-9AC0-116C1238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049557-3D3E-0720-3D82-539E908E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8DA76E-4FC8-44B6-9ACE-74619DB5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03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ADBD9A-9B72-F6B2-2986-843CC92E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22DB0-A2B2-3FEB-33A8-25255A413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C93FD6-3F6E-3A7E-3FB4-7A1173B2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295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09DAA-6EB1-3A63-E24F-C5FCB594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A0CDF6-36EF-D3E7-7437-A0D20897E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324B6-63A9-E89F-A936-098EEC515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91026B-C55C-088F-97A7-351E6B1F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27EF78-608F-8E20-CA2D-D33E5DD7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309C11-DCFA-5CB7-35E2-75A65B87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62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FA43E-CFE8-CD8E-1A70-C404992A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C60D60-79FE-92A2-2CE9-D28CC6B08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5A6263-C836-D0E6-0E0D-3E80565B5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AE00F6-1913-22AB-6FD8-185BA9E6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F4843F-3297-D222-7526-77D125A0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1BC624-5E65-931E-5A01-07872253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6248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729BE-7033-F15E-8409-33DAB880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8C1608-9486-E389-37C6-A69662F4A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63CB59-7917-9AF1-2B54-4811B76E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BCDED9-B128-377E-831D-FE29B5F43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E3163C-BEAB-6C20-73BA-39B8F328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154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8AA694-D03E-82FB-7E20-48F7C407F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BC3119-B2E3-E1DD-E874-7B67CC6B1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E19B0-BA3A-E331-F17A-4D70D4A2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8C149D-CEE5-6311-50B5-FEDB9690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B49A95-1660-3D6F-C826-B5AE09AF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059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5BB0AB-3A6F-2BA5-A857-AD90860C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085A4-ACD3-2950-403E-B92D1DC9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63755D-B7CD-F792-E556-E6D3012B3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9BE41-57A4-4D77-8501-5A7FA9A096AF}" type="datetimeFigureOut">
              <a:rPr lang="es-ES" smtClean="0"/>
              <a:t>16/05/2026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887B4D-A1E0-6EBB-9B0E-1BEC2A1CF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DC4B24-56FA-F559-49DC-271A4DC9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8398F-BDB1-43B2-A137-948670BC84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574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youtube.com/watch?v=vzDG5FsjIes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EFAFB4-DBB1-68EF-8B45-C10AF392E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s-ES" sz="5100" dirty="0"/>
              <a:t>IMPLANTACIÓN DE SERVIDOR PXE BASADO EN FOG PROJECT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809B9E-E3BF-4C49-BF5C-6FF9A1168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s-ES" dirty="0"/>
              <a:t>Cristóbal Suárez Abad</a:t>
            </a:r>
          </a:p>
          <a:p>
            <a:r>
              <a:rPr lang="es-ES" dirty="0"/>
              <a:t>PROYECTO INTERMODULAR DE ADMINISTRACIÓN DE SISTEMAS INFORMÁTICOS EN RED </a:t>
            </a:r>
          </a:p>
          <a:p>
            <a:r>
              <a:rPr lang="es-ES" dirty="0"/>
              <a:t>2º ASIR</a:t>
            </a:r>
          </a:p>
        </p:txBody>
      </p:sp>
      <p:sp>
        <p:nvSpPr>
          <p:cNvPr id="1038" name="Freeform: Shape 103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86CFD9-71A7-330C-F7BA-BE7A5B4D3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64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6939" y="2216353"/>
            <a:ext cx="4194603" cy="31337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722690" y="3187903"/>
            <a:ext cx="3060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Situación</a:t>
            </a:r>
            <a:r>
              <a:rPr lang="en-US" sz="2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Actual</a:t>
            </a:r>
            <a:endParaRPr sz="20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722689" y="3654628"/>
            <a:ext cx="358953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Uso de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Clonezilla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Server con baja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tolerancia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fallos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gestión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presencial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cada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aula del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instituto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2690" y="256877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71525" y="581025"/>
            <a:ext cx="54006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Contexto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Problemática</a:t>
            </a:r>
            <a:endParaRPr dirty="0"/>
          </a:p>
        </p:txBody>
      </p:sp>
      <p:sp>
        <p:nvSpPr>
          <p:cNvPr id="107" name="Google Shape;107;p14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4;p14" descr="image.png">
            <a:extLst>
              <a:ext uri="{FF2B5EF4-FFF2-40B4-BE49-F238E27FC236}">
                <a16:creationId xmlns:a16="http://schemas.microsoft.com/office/drawing/2014/main" id="{CB2FC4DD-0CA8-C0BC-18D9-8139879C98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0460" y="2216353"/>
            <a:ext cx="4194603" cy="31337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9;p14"/>
          <p:cNvSpPr txBox="1"/>
          <p:nvPr/>
        </p:nvSpPr>
        <p:spPr>
          <a:xfrm>
            <a:off x="6846210" y="3187903"/>
            <a:ext cx="3060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Puntos </a:t>
            </a:r>
            <a:r>
              <a:rPr lang="en-US" sz="2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Críticos</a:t>
            </a:r>
            <a:endParaRPr sz="2000" dirty="0"/>
          </a:p>
        </p:txBody>
      </p:sp>
      <p:sp>
        <p:nvSpPr>
          <p:cNvPr id="4" name="Google Shape;100;p14"/>
          <p:cNvSpPr txBox="1"/>
          <p:nvPr/>
        </p:nvSpPr>
        <p:spPr>
          <a:xfrm>
            <a:off x="6846209" y="3654628"/>
            <a:ext cx="3908851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Fallo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multicast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Error con discos de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diferente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tamaño</a:t>
            </a:r>
            <a:endParaRPr lang="en-US" b="0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Sin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servicio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otras</a:t>
            </a:r>
            <a:r>
              <a:rPr lang="en-US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subredes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46210" y="2568778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CC06C20D-24C6-5B47-1FC3-6463F7C9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AF02F55D-74E1-5148-621D-80898AD6ADE4}"/>
              </a:ext>
            </a:extLst>
          </p:cNvPr>
          <p:cNvSpPr txBox="1"/>
          <p:nvPr/>
        </p:nvSpPr>
        <p:spPr>
          <a:xfrm>
            <a:off x="771525" y="581025"/>
            <a:ext cx="598315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Objetivos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Estratégicos</a:t>
            </a:r>
            <a:endParaRPr dirty="0"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9DD7FF54-79EE-187A-A48D-1C48A3B26983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41;p17" descr="image.png">
            <a:extLst>
              <a:ext uri="{FF2B5EF4-FFF2-40B4-BE49-F238E27FC236}">
                <a16:creationId xmlns:a16="http://schemas.microsoft.com/office/drawing/2014/main" id="{7C105D2A-58CB-CA26-2760-27AB5EF37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700" y="1527844"/>
            <a:ext cx="4131036" cy="206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4;p17">
            <a:extLst>
              <a:ext uri="{FF2B5EF4-FFF2-40B4-BE49-F238E27FC236}">
                <a16:creationId xmlns:a16="http://schemas.microsoft.com/office/drawing/2014/main" id="{C39C90AB-01E8-80DB-3088-EF445CE56DBF}"/>
              </a:ext>
            </a:extLst>
          </p:cNvPr>
          <p:cNvSpPr txBox="1"/>
          <p:nvPr/>
        </p:nvSpPr>
        <p:spPr>
          <a:xfrm>
            <a:off x="7005450" y="1724230"/>
            <a:ext cx="3060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Despliegue</a:t>
            </a:r>
            <a:r>
              <a:rPr lang="en-US" sz="20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Masivo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9" name="Google Shape;145;p17">
            <a:extLst>
              <a:ext uri="{FF2B5EF4-FFF2-40B4-BE49-F238E27FC236}">
                <a16:creationId xmlns:a16="http://schemas.microsoft.com/office/drawing/2014/main" id="{4ABF35F0-E47A-AA89-77FE-4362D7A347E0}"/>
              </a:ext>
            </a:extLst>
          </p:cNvPr>
          <p:cNvSpPr txBox="1"/>
          <p:nvPr/>
        </p:nvSpPr>
        <p:spPr>
          <a:xfrm>
            <a:off x="7005450" y="2039969"/>
            <a:ext cx="3444836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Protocolo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Multicast para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desplegar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 aulas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completas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manera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eficiente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Google Shape;141;p17" descr="image.png">
            <a:extLst>
              <a:ext uri="{FF2B5EF4-FFF2-40B4-BE49-F238E27FC236}">
                <a16:creationId xmlns:a16="http://schemas.microsoft.com/office/drawing/2014/main" id="{FEAF7E4C-5ABA-C5AE-EA44-2E66B57919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1264" y="1527844"/>
            <a:ext cx="4131037" cy="206410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44;p17">
            <a:extLst>
              <a:ext uri="{FF2B5EF4-FFF2-40B4-BE49-F238E27FC236}">
                <a16:creationId xmlns:a16="http://schemas.microsoft.com/office/drawing/2014/main" id="{217D6F9A-0328-0357-07E5-91DE5069BFAD}"/>
              </a:ext>
            </a:extLst>
          </p:cNvPr>
          <p:cNvSpPr txBox="1"/>
          <p:nvPr/>
        </p:nvSpPr>
        <p:spPr>
          <a:xfrm>
            <a:off x="1763607" y="1838196"/>
            <a:ext cx="3060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Redes </a:t>
            </a:r>
            <a:r>
              <a:rPr lang="en-US" sz="2000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Segmentadas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4" name="Google Shape;145;p17">
            <a:extLst>
              <a:ext uri="{FF2B5EF4-FFF2-40B4-BE49-F238E27FC236}">
                <a16:creationId xmlns:a16="http://schemas.microsoft.com/office/drawing/2014/main" id="{235727B4-51C1-7A23-5BC5-40ABB12A282E}"/>
              </a:ext>
            </a:extLst>
          </p:cNvPr>
          <p:cNvSpPr txBox="1"/>
          <p:nvPr/>
        </p:nvSpPr>
        <p:spPr>
          <a:xfrm>
            <a:off x="1741513" y="2205664"/>
            <a:ext cx="333314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Superar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barreras entre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Subredes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: PXE, Multicast,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WakeOnLAN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5" name="Google Shape;141;p17" descr="image.png">
            <a:extLst>
              <a:ext uri="{FF2B5EF4-FFF2-40B4-BE49-F238E27FC236}">
                <a16:creationId xmlns:a16="http://schemas.microsoft.com/office/drawing/2014/main" id="{62C92750-81D2-928F-614E-86AAD05A88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4676" y="4119970"/>
            <a:ext cx="4131037" cy="190345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44;p17">
            <a:extLst>
              <a:ext uri="{FF2B5EF4-FFF2-40B4-BE49-F238E27FC236}">
                <a16:creationId xmlns:a16="http://schemas.microsoft.com/office/drawing/2014/main" id="{695A65A7-5977-FC62-7287-8640EA6B743E}"/>
              </a:ext>
            </a:extLst>
          </p:cNvPr>
          <p:cNvSpPr txBox="1"/>
          <p:nvPr/>
        </p:nvSpPr>
        <p:spPr>
          <a:xfrm>
            <a:off x="7040427" y="4300790"/>
            <a:ext cx="3060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Zero-Touch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7" name="Google Shape;145;p17">
            <a:extLst>
              <a:ext uri="{FF2B5EF4-FFF2-40B4-BE49-F238E27FC236}">
                <a16:creationId xmlns:a16="http://schemas.microsoft.com/office/drawing/2014/main" id="{5F5C9142-DE9A-8D64-1C28-7C497F631BC8}"/>
              </a:ext>
            </a:extLst>
          </p:cNvPr>
          <p:cNvSpPr txBox="1"/>
          <p:nvPr/>
        </p:nvSpPr>
        <p:spPr>
          <a:xfrm>
            <a:off x="7040426" y="4668258"/>
            <a:ext cx="340985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Automatización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total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mediante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scripts post-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despliegue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Snapins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" name="Google Shape;141;p17" descr="image.png">
            <a:extLst>
              <a:ext uri="{FF2B5EF4-FFF2-40B4-BE49-F238E27FC236}">
                <a16:creationId xmlns:a16="http://schemas.microsoft.com/office/drawing/2014/main" id="{90843CB7-2DA1-EDD8-5835-07216C392B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287" y="4119970"/>
            <a:ext cx="4131037" cy="19034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44;p17">
            <a:extLst>
              <a:ext uri="{FF2B5EF4-FFF2-40B4-BE49-F238E27FC236}">
                <a16:creationId xmlns:a16="http://schemas.microsoft.com/office/drawing/2014/main" id="{645D5347-75D4-EAF0-32A1-18E692BF9582}"/>
              </a:ext>
            </a:extLst>
          </p:cNvPr>
          <p:cNvSpPr txBox="1"/>
          <p:nvPr/>
        </p:nvSpPr>
        <p:spPr>
          <a:xfrm>
            <a:off x="1579932" y="4400693"/>
            <a:ext cx="3060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Centralización</a:t>
            </a:r>
            <a:endParaRPr sz="2000" dirty="0"/>
          </a:p>
        </p:txBody>
      </p:sp>
      <p:sp>
        <p:nvSpPr>
          <p:cNvPr id="11" name="Google Shape;145;p17">
            <a:extLst>
              <a:ext uri="{FF2B5EF4-FFF2-40B4-BE49-F238E27FC236}">
                <a16:creationId xmlns:a16="http://schemas.microsoft.com/office/drawing/2014/main" id="{306C3979-02AA-DB05-3199-1D124D4735ED}"/>
              </a:ext>
            </a:extLst>
          </p:cNvPr>
          <p:cNvSpPr txBox="1"/>
          <p:nvPr/>
        </p:nvSpPr>
        <p:spPr>
          <a:xfrm>
            <a:off x="1579932" y="4705633"/>
            <a:ext cx="3459754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Gestión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todo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proceso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desde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un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único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panel web y control de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hosts.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90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043" y="2604877"/>
            <a:ext cx="3486150" cy="367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2604877"/>
            <a:ext cx="3486150" cy="367209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006793" y="2933209"/>
            <a:ext cx="30603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Infraestructura</a:t>
            </a:r>
            <a:endParaRPr sz="200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1006793" y="3465766"/>
            <a:ext cx="291465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Virtualización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sobre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Proxmox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VE y 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VM de Ubuntu Server 24.04 LTS</a:t>
            </a:r>
            <a:endParaRPr lang="en-US" sz="1600" b="0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Ahorro </a:t>
            </a:r>
            <a:r>
              <a:rPr lang="en-US" sz="1600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recursos</a:t>
            </a: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Métodos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propios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backup y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disponibilidad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Facilidad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 para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escalar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recursos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.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8410575" y="2964761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Red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8410575" y="3380141"/>
            <a:ext cx="291465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Dispositivos</a:t>
            </a: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red:</a:t>
            </a:r>
            <a:endParaRPr lang="en-US" sz="1600" b="0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R1-ubuntu: LXC de Ubuntu.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o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MikroTik</a:t>
            </a: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: VM con </a:t>
            </a:r>
            <a:r>
              <a:rPr lang="en-US" sz="1600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RouterOS</a:t>
            </a: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71525" y="581025"/>
            <a:ext cx="568923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Stack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Tecnológico</a:t>
            </a:r>
            <a:endParaRPr dirty="0"/>
          </a:p>
        </p:txBody>
      </p:sp>
      <p:sp>
        <p:nvSpPr>
          <p:cNvPr id="154" name="Google Shape;154;p17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10">
            <a:extLst>
              <a:ext uri="{FF2B5EF4-FFF2-40B4-BE49-F238E27FC236}">
                <a16:creationId xmlns:a16="http://schemas.microsoft.com/office/drawing/2014/main" id="{F7B84479-2C15-4DAA-E897-B453F5CDD4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11718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F98EB49-0DE7-6309-568E-E2468878FE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33" y="1323975"/>
            <a:ext cx="1065526" cy="102133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A60B965-5A64-04E1-8A33-CB9FF7B718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168" y="1383500"/>
            <a:ext cx="964313" cy="97135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90C1AEE-A119-C8C5-3494-8BDD0487A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81" y="1424128"/>
            <a:ext cx="1145330" cy="1045114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C86E977-22FF-1BD6-F933-176AC5538F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544" y="1388560"/>
            <a:ext cx="1080681" cy="1080681"/>
          </a:xfrm>
          <a:prstGeom prst="rect">
            <a:avLst/>
          </a:prstGeom>
        </p:spPr>
      </p:pic>
      <p:pic>
        <p:nvPicPr>
          <p:cNvPr id="3" name="Google Shape;14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90360" y="2604877"/>
            <a:ext cx="3486150" cy="367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4;p17"/>
          <p:cNvSpPr txBox="1"/>
          <p:nvPr/>
        </p:nvSpPr>
        <p:spPr>
          <a:xfrm>
            <a:off x="4676110" y="2964761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Núcleo</a:t>
            </a:r>
            <a:endParaRPr dirty="0"/>
          </a:p>
        </p:txBody>
      </p:sp>
      <p:sp>
        <p:nvSpPr>
          <p:cNvPr id="5" name="Google Shape;145;p17"/>
          <p:cNvSpPr txBox="1"/>
          <p:nvPr/>
        </p:nvSpPr>
        <p:spPr>
          <a:xfrm>
            <a:off x="4647081" y="3429000"/>
            <a:ext cx="3200400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FOG Project v1.5.10 (Stable):</a:t>
            </a:r>
            <a:r>
              <a:rPr lang="en-US" sz="1600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GPL-3.0</a:t>
            </a:r>
            <a:endParaRPr lang="en-US" sz="1600" b="0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DHCP Server (IP,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Arranque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 PXE)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Multicast (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transmisión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datos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)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Captura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 y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gestión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imágenes</a:t>
            </a:r>
            <a:endParaRPr lang="en-US" sz="1600" dirty="0">
              <a:solidFill>
                <a:schemeClr val="bg1"/>
              </a:solidFill>
              <a:latin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Administración de Hosts: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MariaDB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FOG Client (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Snapins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8D5933-DA98-1E4D-76C3-FB5E001974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660" y="1453888"/>
            <a:ext cx="915042" cy="900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771525" y="581025"/>
            <a:ext cx="485060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Red</a:t>
            </a:r>
            <a:endParaRPr lang="en-US" sz="3600" dirty="0"/>
          </a:p>
        </p:txBody>
      </p:sp>
      <p:sp>
        <p:nvSpPr>
          <p:cNvPr id="124" name="Google Shape;124;p15"/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237B86EC-A7EF-4354-D586-0069088D1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168" y="2052887"/>
            <a:ext cx="7092853" cy="4224088"/>
          </a:xfrm>
          <a:prstGeom prst="rect">
            <a:avLst/>
          </a:prstGeom>
        </p:spPr>
      </p:pic>
      <p:pic>
        <p:nvPicPr>
          <p:cNvPr id="4" name="Google Shape;141;p17" descr="image.png">
            <a:extLst>
              <a:ext uri="{FF2B5EF4-FFF2-40B4-BE49-F238E27FC236}">
                <a16:creationId xmlns:a16="http://schemas.microsoft.com/office/drawing/2014/main" id="{A8B3665C-33C0-9BBF-9934-A54C233A7D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191" y="3145870"/>
            <a:ext cx="4168203" cy="31311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4;p17">
            <a:extLst>
              <a:ext uri="{FF2B5EF4-FFF2-40B4-BE49-F238E27FC236}">
                <a16:creationId xmlns:a16="http://schemas.microsoft.com/office/drawing/2014/main" id="{890CF6FF-CA89-FDA6-5F73-33D948746BE5}"/>
              </a:ext>
            </a:extLst>
          </p:cNvPr>
          <p:cNvSpPr txBox="1"/>
          <p:nvPr/>
        </p:nvSpPr>
        <p:spPr>
          <a:xfrm>
            <a:off x="611942" y="3383995"/>
            <a:ext cx="388245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R1-ubuntu o </a:t>
            </a:r>
            <a:r>
              <a:rPr lang="en-US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MikroTik</a:t>
            </a:r>
            <a:r>
              <a:rPr lang="en-US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CHR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45;p17">
            <a:extLst>
              <a:ext uri="{FF2B5EF4-FFF2-40B4-BE49-F238E27FC236}">
                <a16:creationId xmlns:a16="http://schemas.microsoft.com/office/drawing/2014/main" id="{8A9A400E-0AF5-FE80-A29C-60A806CF26B3}"/>
              </a:ext>
            </a:extLst>
          </p:cNvPr>
          <p:cNvSpPr txBox="1"/>
          <p:nvPr/>
        </p:nvSpPr>
        <p:spPr>
          <a:xfrm>
            <a:off x="535948" y="3807177"/>
            <a:ext cx="3920966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Enrutamiento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entre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subredes</a:t>
            </a:r>
            <a:endParaRPr lang="en-US" sz="1600" b="0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DHCP-Relay 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Peticiones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 DHCP al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servidor</a:t>
            </a:r>
            <a:endParaRPr lang="en-US" sz="1600" dirty="0">
              <a:solidFill>
                <a:schemeClr val="bg1"/>
              </a:solidFill>
              <a:latin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Multicast 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Eficiencia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 del Ancho de Banda</a:t>
            </a:r>
            <a:endParaRPr lang="en-US" sz="1600" dirty="0">
              <a:solidFill>
                <a:schemeClr val="bg1"/>
              </a:solidFill>
              <a:latin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Wake On LAN 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Enrutamiento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Wingdings" panose="05000000000000000000" pitchFamily="2" charset="2"/>
              </a:rPr>
              <a:t> y Scripts</a:t>
            </a:r>
            <a:endParaRPr lang="en-US" sz="1600" dirty="0">
              <a:solidFill>
                <a:schemeClr val="bg1"/>
              </a:solidFill>
              <a:latin typeface="Urbanist"/>
              <a:sym typeface="Urbanist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DHCP-Server (</a:t>
            </a:r>
            <a:r>
              <a:rPr lang="en-US" sz="1600" dirty="0" err="1">
                <a:solidFill>
                  <a:schemeClr val="bg1"/>
                </a:solidFill>
                <a:latin typeface="Urbanist"/>
                <a:sym typeface="Urbanist"/>
              </a:rPr>
              <a:t>Opcional</a:t>
            </a:r>
            <a:r>
              <a:rPr lang="en-US" sz="1600" dirty="0">
                <a:solidFill>
                  <a:schemeClr val="bg1"/>
                </a:solidFill>
                <a:latin typeface="Urbanist"/>
                <a:sym typeface="Urbanist"/>
              </a:rPr>
              <a:t>)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DAFFDE"/>
              </a:solidFill>
              <a:latin typeface="Urbanist"/>
              <a:sym typeface="Urbanist"/>
            </a:endParaRPr>
          </a:p>
        </p:txBody>
      </p:sp>
      <p:pic>
        <p:nvPicPr>
          <p:cNvPr id="2" name="Google Shape;141;p17" descr="image.png">
            <a:extLst>
              <a:ext uri="{FF2B5EF4-FFF2-40B4-BE49-F238E27FC236}">
                <a16:creationId xmlns:a16="http://schemas.microsoft.com/office/drawing/2014/main" id="{4C2B14B9-044A-84B7-7CBA-ECA6F8E9C1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191" y="1506668"/>
            <a:ext cx="4168202" cy="150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02C29D9-D231-33AA-B063-EE441E4F3816}"/>
              </a:ext>
            </a:extLst>
          </p:cNvPr>
          <p:cNvSpPr txBox="1"/>
          <p:nvPr/>
        </p:nvSpPr>
        <p:spPr>
          <a:xfrm>
            <a:off x="459956" y="1648354"/>
            <a:ext cx="4072951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5F5F5"/>
                </a:solidFill>
                <a:latin typeface="Urbanist"/>
                <a:sym typeface="Urbanist"/>
              </a:rPr>
              <a:t>FOG-Server: 10.2.7.5/24</a:t>
            </a:r>
          </a:p>
          <a:p>
            <a:endParaRPr lang="en-US" sz="1600" b="1" dirty="0">
              <a:solidFill>
                <a:srgbClr val="F5F5F5"/>
              </a:solidFill>
              <a:latin typeface="Urbanist"/>
              <a:sym typeface="Urbanist"/>
            </a:endParaRPr>
          </a:p>
          <a:p>
            <a:r>
              <a:rPr lang="en-US" sz="1500" dirty="0">
                <a:solidFill>
                  <a:srgbClr val="F5F5F5"/>
                </a:solidFill>
                <a:latin typeface="Urbanist"/>
                <a:sym typeface="Wingdings" panose="05000000000000000000" pitchFamily="2" charset="2"/>
              </a:rPr>
              <a:t>DNSMASQ (</a:t>
            </a:r>
            <a:r>
              <a:rPr lang="en-US" sz="1500" dirty="0" err="1">
                <a:solidFill>
                  <a:srgbClr val="F5F5F5"/>
                </a:solidFill>
                <a:latin typeface="Urbanist"/>
                <a:sym typeface="Wingdings" panose="05000000000000000000" pitchFamily="2" charset="2"/>
              </a:rPr>
              <a:t>ProxyDHCP</a:t>
            </a:r>
            <a:r>
              <a:rPr lang="en-US" sz="1500" dirty="0">
                <a:solidFill>
                  <a:srgbClr val="F5F5F5"/>
                </a:solidFill>
                <a:latin typeface="Urbanist"/>
                <a:sym typeface="Wingdings" panose="05000000000000000000" pitchFamily="2" charset="2"/>
              </a:rPr>
              <a:t>)  </a:t>
            </a:r>
            <a:r>
              <a:rPr lang="en-US" sz="1500" dirty="0">
                <a:solidFill>
                  <a:srgbClr val="F5F5F5"/>
                </a:solidFill>
                <a:latin typeface="Urbanist"/>
                <a:sym typeface="Urbanist"/>
              </a:rPr>
              <a:t>vmbr207 </a:t>
            </a:r>
          </a:p>
          <a:p>
            <a:endParaRPr lang="en-US" sz="1500" dirty="0">
              <a:solidFill>
                <a:srgbClr val="F5F5F5"/>
              </a:solidFill>
              <a:latin typeface="Urbanist"/>
              <a:sym typeface="Urbanist"/>
            </a:endParaRPr>
          </a:p>
          <a:p>
            <a:r>
              <a:rPr lang="en-US" sz="1500" dirty="0" err="1">
                <a:solidFill>
                  <a:schemeClr val="bg1"/>
                </a:solidFill>
                <a:latin typeface="Urbanist" panose="020B0604020202020204"/>
                <a:sym typeface="Wingdings" panose="05000000000000000000" pitchFamily="2" charset="2"/>
              </a:rPr>
              <a:t>Servidor</a:t>
            </a:r>
            <a:r>
              <a:rPr lang="en-US" sz="1500" dirty="0">
                <a:solidFill>
                  <a:schemeClr val="bg1"/>
                </a:solidFill>
                <a:latin typeface="Urbanist" panose="020B0604020202020204"/>
                <a:sym typeface="Wingdings" panose="05000000000000000000" pitchFamily="2" charset="2"/>
              </a:rPr>
              <a:t> DHCP  </a:t>
            </a:r>
            <a:r>
              <a:rPr lang="en-US" sz="1500" dirty="0">
                <a:solidFill>
                  <a:schemeClr val="bg1"/>
                </a:solidFill>
                <a:latin typeface="Urbanist" panose="020B0604020202020204"/>
              </a:rPr>
              <a:t>vmbr217, vmbr227 y vmbr237</a:t>
            </a:r>
          </a:p>
        </p:txBody>
      </p:sp>
      <p:pic>
        <p:nvPicPr>
          <p:cNvPr id="9" name="Google Shape;141;p17" descr="image.png">
            <a:extLst>
              <a:ext uri="{FF2B5EF4-FFF2-40B4-BE49-F238E27FC236}">
                <a16:creationId xmlns:a16="http://schemas.microsoft.com/office/drawing/2014/main" id="{5BF36B35-E49F-A7FF-7CED-01A3777735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4144" y="1059781"/>
            <a:ext cx="5828206" cy="828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34;p16">
            <a:extLst>
              <a:ext uri="{FF2B5EF4-FFF2-40B4-BE49-F238E27FC236}">
                <a16:creationId xmlns:a16="http://schemas.microsoft.com/office/drawing/2014/main" id="{9464FA7F-AB5E-65B8-A73D-E8874AAD0C0E}"/>
              </a:ext>
            </a:extLst>
          </p:cNvPr>
          <p:cNvSpPr txBox="1"/>
          <p:nvPr/>
        </p:nvSpPr>
        <p:spPr>
          <a:xfrm>
            <a:off x="5622131" y="1153451"/>
            <a:ext cx="5560219" cy="73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Segmentación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Interconexión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entre red de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gestión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(10.2.7.0) y aulas (172.18.0.0/16)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mediante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R1-ubuntu o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Mikrotik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CHR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3;p15">
            <a:extLst>
              <a:ext uri="{FF2B5EF4-FFF2-40B4-BE49-F238E27FC236}">
                <a16:creationId xmlns:a16="http://schemas.microsoft.com/office/drawing/2014/main" id="{FA24CB36-CC3F-5EA7-1177-7485C30F23B3}"/>
              </a:ext>
            </a:extLst>
          </p:cNvPr>
          <p:cNvSpPr txBox="1"/>
          <p:nvPr/>
        </p:nvSpPr>
        <p:spPr>
          <a:xfrm>
            <a:off x="771524" y="581025"/>
            <a:ext cx="1114565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Red – Multicast (</a:t>
            </a:r>
            <a:r>
              <a:rPr lang="en-US" sz="3600" b="1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Multidifusión</a:t>
            </a: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en-US" sz="3600" dirty="0"/>
          </a:p>
        </p:txBody>
      </p:sp>
      <p:sp>
        <p:nvSpPr>
          <p:cNvPr id="4" name="Google Shape;124;p15">
            <a:extLst>
              <a:ext uri="{FF2B5EF4-FFF2-40B4-BE49-F238E27FC236}">
                <a16:creationId xmlns:a16="http://schemas.microsoft.com/office/drawing/2014/main" id="{4CB2324B-CB55-734C-84CA-04E49B7C81E8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01;p21" descr="image.png">
            <a:extLst>
              <a:ext uri="{FF2B5EF4-FFF2-40B4-BE49-F238E27FC236}">
                <a16:creationId xmlns:a16="http://schemas.microsoft.com/office/drawing/2014/main" id="{53B023D0-3E0E-9336-79B1-7235ED01D3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1088" y="4597357"/>
            <a:ext cx="3111709" cy="14305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23178A23-FAFD-3B1B-3E1C-7ECE3C8F255B}"/>
              </a:ext>
            </a:extLst>
          </p:cNvPr>
          <p:cNvSpPr txBox="1"/>
          <p:nvPr/>
        </p:nvSpPr>
        <p:spPr>
          <a:xfrm>
            <a:off x="926657" y="4788443"/>
            <a:ext cx="332172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Urbanist"/>
                <a:sym typeface="Urbanist"/>
              </a:rPr>
              <a:t>R1-ubuntu: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Deshabilitar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“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Filtros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RPF”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Descubrir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IP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grupo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Multicast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Crear Puente con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SMCRoute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</a:p>
        </p:txBody>
      </p:sp>
      <p:pic>
        <p:nvPicPr>
          <p:cNvPr id="29" name="Google Shape;201;p21" descr="image.png">
            <a:extLst>
              <a:ext uri="{FF2B5EF4-FFF2-40B4-BE49-F238E27FC236}">
                <a16:creationId xmlns:a16="http://schemas.microsoft.com/office/drawing/2014/main" id="{D29E9977-D188-1B07-B6D1-28B11C9F03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1366" y="1423370"/>
            <a:ext cx="3061431" cy="154251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8AABFBAF-21D5-1243-84A8-EA36EDF4BBF8}"/>
              </a:ext>
            </a:extLst>
          </p:cNvPr>
          <p:cNvSpPr txBox="1"/>
          <p:nvPr/>
        </p:nvSpPr>
        <p:spPr>
          <a:xfrm>
            <a:off x="961087" y="1446610"/>
            <a:ext cx="30614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despliegue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Multicast (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UDPcast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) reduce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consumo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red al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enviar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flujo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una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sola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vez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todo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1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grupo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2" name="Google Shape;201;p21" descr="image.png">
            <a:extLst>
              <a:ext uri="{FF2B5EF4-FFF2-40B4-BE49-F238E27FC236}">
                <a16:creationId xmlns:a16="http://schemas.microsoft.com/office/drawing/2014/main" id="{8BFBE01C-4E3D-D945-B3CA-899F6909E2C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9501" y="1423370"/>
            <a:ext cx="3061431" cy="154009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BCFA44-A5CA-65AE-795E-633382700615}"/>
              </a:ext>
            </a:extLst>
          </p:cNvPr>
          <p:cNvSpPr txBox="1"/>
          <p:nvPr/>
        </p:nvSpPr>
        <p:spPr>
          <a:xfrm>
            <a:off x="8379501" y="1486136"/>
            <a:ext cx="30614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FOG Project:</a:t>
            </a:r>
          </a:p>
          <a:p>
            <a:endParaRPr lang="en-US" b="1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b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UDPCAST MAXWAIT</a:t>
            </a:r>
          </a:p>
          <a:p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Tiempo de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espera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para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unión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hosts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6" name="Google Shape;201;p21" descr="image.png">
            <a:extLst>
              <a:ext uri="{FF2B5EF4-FFF2-40B4-BE49-F238E27FC236}">
                <a16:creationId xmlns:a16="http://schemas.microsoft.com/office/drawing/2014/main" id="{FA65B479-887F-6B3D-1167-253168DB21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9503" y="4550592"/>
            <a:ext cx="3061429" cy="11701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2BE0C90-D020-7010-35A6-0479654E1CDC}"/>
              </a:ext>
            </a:extLst>
          </p:cNvPr>
          <p:cNvSpPr txBox="1"/>
          <p:nvPr/>
        </p:nvSpPr>
        <p:spPr>
          <a:xfrm>
            <a:off x="8379501" y="4630907"/>
            <a:ext cx="332172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Urbanist"/>
                <a:sym typeface="Urbanist"/>
              </a:rPr>
              <a:t>Mikrotik</a:t>
            </a:r>
            <a:r>
              <a:rPr lang="en-US" sz="1800" b="1" dirty="0">
                <a:solidFill>
                  <a:schemeClr val="bg1"/>
                </a:solidFill>
                <a:latin typeface="Urbanist"/>
                <a:sym typeface="Urbanis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Protocolo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“IGMP Proxy”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85B918D-9756-C351-71DA-A11CACA43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384" y="1476375"/>
            <a:ext cx="3905250" cy="39052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7A4F3E-9A89-E985-D11D-33F215DBE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96" y="3452558"/>
            <a:ext cx="1145330" cy="10451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F6F17CC-C5BD-B1B4-0A36-E5375A004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802" y="3354196"/>
            <a:ext cx="1080681" cy="108068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659E79-C7E6-ECA9-94F4-D78DBF2B17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434" y="359925"/>
            <a:ext cx="915042" cy="90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1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15">
            <a:extLst>
              <a:ext uri="{FF2B5EF4-FFF2-40B4-BE49-F238E27FC236}">
                <a16:creationId xmlns:a16="http://schemas.microsoft.com/office/drawing/2014/main" id="{1F67FF4D-3F12-46FF-201F-F683FBD3CA55}"/>
              </a:ext>
            </a:extLst>
          </p:cNvPr>
          <p:cNvSpPr txBox="1"/>
          <p:nvPr/>
        </p:nvSpPr>
        <p:spPr>
          <a:xfrm>
            <a:off x="771525" y="581025"/>
            <a:ext cx="8572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Red – Wake On LAN</a:t>
            </a:r>
            <a:endParaRPr lang="en-US" sz="3600" dirty="0"/>
          </a:p>
        </p:txBody>
      </p:sp>
      <p:sp>
        <p:nvSpPr>
          <p:cNvPr id="3" name="Google Shape;124;p15">
            <a:extLst>
              <a:ext uri="{FF2B5EF4-FFF2-40B4-BE49-F238E27FC236}">
                <a16:creationId xmlns:a16="http://schemas.microsoft.com/office/drawing/2014/main" id="{2D546BE5-921B-467B-5035-DC74BC6E40DC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01;p21" descr="image.png">
            <a:extLst>
              <a:ext uri="{FF2B5EF4-FFF2-40B4-BE49-F238E27FC236}">
                <a16:creationId xmlns:a16="http://schemas.microsoft.com/office/drawing/2014/main" id="{15AD77DA-4120-E97A-06C6-202F1658C8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7841" y="1363233"/>
            <a:ext cx="4273134" cy="150034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E2A4ED1-CCCB-ACE3-A0B7-ADD0EA37923F}"/>
              </a:ext>
            </a:extLst>
          </p:cNvPr>
          <p:cNvSpPr txBox="1"/>
          <p:nvPr/>
        </p:nvSpPr>
        <p:spPr>
          <a:xfrm>
            <a:off x="7623591" y="1606433"/>
            <a:ext cx="38075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Urbanist"/>
                <a:sym typeface="Urbanist"/>
              </a:rPr>
              <a:t>R1-ubuntu</a:t>
            </a:r>
            <a:r>
              <a:rPr lang="en-US" sz="1800" b="1" dirty="0">
                <a:solidFill>
                  <a:schemeClr val="bg1"/>
                </a:solidFill>
                <a:latin typeface="Urbanist"/>
                <a:sym typeface="Urbanis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IPTables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(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Clonación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y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envío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bc_forwarding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Envío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de Broadcast.</a:t>
            </a:r>
          </a:p>
        </p:txBody>
      </p:sp>
      <p:pic>
        <p:nvPicPr>
          <p:cNvPr id="4" name="Google Shape;201;p21" descr="image.png">
            <a:extLst>
              <a:ext uri="{FF2B5EF4-FFF2-40B4-BE49-F238E27FC236}">
                <a16:creationId xmlns:a16="http://schemas.microsoft.com/office/drawing/2014/main" id="{3CA8051A-5B1D-89EA-D4AE-35FA5F8974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1363233"/>
            <a:ext cx="3408386" cy="76449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7;p21">
            <a:extLst>
              <a:ext uri="{FF2B5EF4-FFF2-40B4-BE49-F238E27FC236}">
                <a16:creationId xmlns:a16="http://schemas.microsoft.com/office/drawing/2014/main" id="{8B770FD4-E42B-B6EB-6EDF-5FC7F4628943}"/>
              </a:ext>
            </a:extLst>
          </p:cNvPr>
          <p:cNvSpPr txBox="1"/>
          <p:nvPr/>
        </p:nvSpPr>
        <p:spPr>
          <a:xfrm>
            <a:off x="644342" y="1514873"/>
            <a:ext cx="332870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Encendido</a:t>
            </a:r>
            <a:r>
              <a:rPr lang="en-US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remot</a:t>
            </a:r>
            <a:r>
              <a:rPr lang="en-US" b="1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o</a:t>
            </a:r>
            <a:r>
              <a:rPr lang="en-US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los</a:t>
            </a:r>
            <a:r>
              <a:rPr lang="en-US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hosts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8" name="Google Shape;201;p21" descr="image.png">
            <a:extLst>
              <a:ext uri="{FF2B5EF4-FFF2-40B4-BE49-F238E27FC236}">
                <a16:creationId xmlns:a16="http://schemas.microsoft.com/office/drawing/2014/main" id="{A8F1FCFE-B836-7776-E830-CA7F7A0304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4064" y="3484547"/>
            <a:ext cx="4249359" cy="248969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1371C0C-B6FD-FD68-E6DA-D9964EEE3D74}"/>
              </a:ext>
            </a:extLst>
          </p:cNvPr>
          <p:cNvSpPr txBox="1"/>
          <p:nvPr/>
        </p:nvSpPr>
        <p:spPr>
          <a:xfrm>
            <a:off x="7596913" y="3727748"/>
            <a:ext cx="39902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Urbanist"/>
                <a:sym typeface="Urbanist"/>
              </a:rPr>
              <a:t>Mikrotik</a:t>
            </a:r>
            <a:r>
              <a:rPr lang="en-US" sz="1800" b="1" dirty="0">
                <a:solidFill>
                  <a:schemeClr val="bg1"/>
                </a:solidFill>
                <a:latin typeface="Urbanist"/>
                <a:sym typeface="Urbanis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Agente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proxy Wake On 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Interfaz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de red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en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cada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subred</a:t>
            </a:r>
            <a:endParaRPr lang="en-US" dirty="0">
              <a:solidFill>
                <a:schemeClr val="bg1"/>
              </a:solidFill>
              <a:latin typeface="Urbanist"/>
              <a:sym typeface="Urbanis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Script: Lee base de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datos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FOG y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usa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herramienta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“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wol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” del router.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Usuarios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con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privilegios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mínimos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en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BBDD FOG y router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Mikrotik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DAFFDE"/>
              </a:solidFill>
              <a:latin typeface="Urbanist"/>
              <a:sym typeface="Urbanist"/>
            </a:endParaRPr>
          </a:p>
        </p:txBody>
      </p:sp>
      <p:pic>
        <p:nvPicPr>
          <p:cNvPr id="10" name="Google Shape;201;p21" descr="image.png">
            <a:extLst>
              <a:ext uri="{FF2B5EF4-FFF2-40B4-BE49-F238E27FC236}">
                <a16:creationId xmlns:a16="http://schemas.microsoft.com/office/drawing/2014/main" id="{7AE7C6C2-C840-6033-EF6A-14DA7CB37D0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801" y="3484547"/>
            <a:ext cx="3486150" cy="282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045BC80-69AD-0F79-D49B-86DB4AC46CCD}"/>
              </a:ext>
            </a:extLst>
          </p:cNvPr>
          <p:cNvSpPr txBox="1"/>
          <p:nvPr/>
        </p:nvSpPr>
        <p:spPr>
          <a:xfrm>
            <a:off x="890552" y="3768538"/>
            <a:ext cx="310627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Urbanist"/>
                <a:sym typeface="Urbanist"/>
              </a:rPr>
              <a:t>Jump Box: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Dispositivo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Linux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en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subred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destino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Conexión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por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SSH y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envía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“WOL”.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Script: lee BBDD FOG y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manda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ejecutar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comando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 de “</a:t>
            </a:r>
            <a:r>
              <a:rPr lang="en-US" dirty="0" err="1">
                <a:solidFill>
                  <a:schemeClr val="bg1"/>
                </a:solidFill>
                <a:latin typeface="Urbanist"/>
                <a:sym typeface="Urbanist"/>
              </a:rPr>
              <a:t>etherwake</a:t>
            </a:r>
            <a:r>
              <a:rPr lang="en-US" dirty="0">
                <a:solidFill>
                  <a:schemeClr val="bg1"/>
                </a:solidFill>
                <a:latin typeface="Urbanist"/>
                <a:sym typeface="Urbanist"/>
              </a:rPr>
              <a:t>”.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9E5D080-0E5E-2546-A833-BDB95697B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799" y="1956216"/>
            <a:ext cx="2773180" cy="277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0A60C18-1B80-DFC1-7356-B093D1360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645" y="180065"/>
            <a:ext cx="1145330" cy="10451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A2D704C-65E4-B334-D30C-35F86F79EA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256" y="5010248"/>
            <a:ext cx="1080681" cy="108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7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15">
            <a:extLst>
              <a:ext uri="{FF2B5EF4-FFF2-40B4-BE49-F238E27FC236}">
                <a16:creationId xmlns:a16="http://schemas.microsoft.com/office/drawing/2014/main" id="{4CCDD1FD-8D54-1081-FA96-5686735A3CDC}"/>
              </a:ext>
            </a:extLst>
          </p:cNvPr>
          <p:cNvSpPr txBox="1"/>
          <p:nvPr/>
        </p:nvSpPr>
        <p:spPr>
          <a:xfrm>
            <a:off x="771524" y="581025"/>
            <a:ext cx="1083945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Herramientas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Post </a:t>
            </a:r>
            <a:r>
              <a:rPr lang="en-US" sz="36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Despliegue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– </a:t>
            </a:r>
            <a:r>
              <a:rPr lang="en-US" sz="36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Configuración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 Hosts</a:t>
            </a:r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Google Shape;124;p15">
            <a:extLst>
              <a:ext uri="{FF2B5EF4-FFF2-40B4-BE49-F238E27FC236}">
                <a16:creationId xmlns:a16="http://schemas.microsoft.com/office/drawing/2014/main" id="{671E3346-BC26-812C-AE9F-BAD4FC1D7A60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41;p17" descr="image.png">
            <a:extLst>
              <a:ext uri="{FF2B5EF4-FFF2-40B4-BE49-F238E27FC236}">
                <a16:creationId xmlns:a16="http://schemas.microsoft.com/office/drawing/2014/main" id="{A37DCA80-367F-B3DA-0E84-5E4CFD5417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6782" y="1621399"/>
            <a:ext cx="3163625" cy="45340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4;p17">
            <a:extLst>
              <a:ext uri="{FF2B5EF4-FFF2-40B4-BE49-F238E27FC236}">
                <a16:creationId xmlns:a16="http://schemas.microsoft.com/office/drawing/2014/main" id="{9EC0726B-C6E3-1971-8AD2-25004C195238}"/>
              </a:ext>
            </a:extLst>
          </p:cNvPr>
          <p:cNvSpPr txBox="1"/>
          <p:nvPr/>
        </p:nvSpPr>
        <p:spPr>
          <a:xfrm>
            <a:off x="1128177" y="2035725"/>
            <a:ext cx="2543937" cy="335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Postdownload</a:t>
            </a:r>
            <a:r>
              <a:rPr lang="en-US" sz="20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scripts:</a:t>
            </a:r>
          </a:p>
          <a:p>
            <a:endParaRPr lang="en-US" b="1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Se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ejecutan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tras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despliegue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de la imagen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host.</a:t>
            </a:r>
          </a:p>
          <a:p>
            <a:endParaRPr lang="en-US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Inyecta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archivo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“unattend.xml”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host y lo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modifica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(hostname).</a:t>
            </a:r>
          </a:p>
          <a:p>
            <a:endParaRPr lang="en-US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adaptar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imágenes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fácilmente</a:t>
            </a:r>
            <a:r>
              <a:rPr lang="en-U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" name="Google Shape;141;p17" descr="image.png">
            <a:extLst>
              <a:ext uri="{FF2B5EF4-FFF2-40B4-BE49-F238E27FC236}">
                <a16:creationId xmlns:a16="http://schemas.microsoft.com/office/drawing/2014/main" id="{AE554AF9-3E3D-B98B-F306-75C34486E8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77057" y="1621399"/>
            <a:ext cx="3368719" cy="456669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4;p17">
            <a:extLst>
              <a:ext uri="{FF2B5EF4-FFF2-40B4-BE49-F238E27FC236}">
                <a16:creationId xmlns:a16="http://schemas.microsoft.com/office/drawing/2014/main" id="{7B92AA5C-58FB-91E2-D8BE-6FC35A91F3B5}"/>
              </a:ext>
            </a:extLst>
          </p:cNvPr>
          <p:cNvSpPr txBox="1"/>
          <p:nvPr/>
        </p:nvSpPr>
        <p:spPr>
          <a:xfrm>
            <a:off x="4461904" y="2024936"/>
            <a:ext cx="2954896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FOG Client:</a:t>
            </a:r>
          </a:p>
          <a:p>
            <a:endParaRPr lang="en-US" sz="1600" b="1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Vincula al host con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servidor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FOG.</a:t>
            </a:r>
          </a:p>
          <a:p>
            <a:endParaRPr lang="en-US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Permite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ordenar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tareas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ejecución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Snapins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desde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servidor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endParaRPr lang="en-US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Control: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apagado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cierre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sesión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cambio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hostname.</a:t>
            </a:r>
            <a:endParaRPr dirty="0"/>
          </a:p>
        </p:txBody>
      </p:sp>
      <p:pic>
        <p:nvPicPr>
          <p:cNvPr id="8" name="Google Shape;141;p17" descr="image.png">
            <a:extLst>
              <a:ext uri="{FF2B5EF4-FFF2-40B4-BE49-F238E27FC236}">
                <a16:creationId xmlns:a16="http://schemas.microsoft.com/office/drawing/2014/main" id="{3CD65DD3-4ACF-8403-36FA-3244822F01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4718" y="1621399"/>
            <a:ext cx="3273224" cy="453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44;p17">
            <a:extLst>
              <a:ext uri="{FF2B5EF4-FFF2-40B4-BE49-F238E27FC236}">
                <a16:creationId xmlns:a16="http://schemas.microsoft.com/office/drawing/2014/main" id="{6975E734-9F5F-6255-633E-B2BAC3E81A55}"/>
              </a:ext>
            </a:extLst>
          </p:cNvPr>
          <p:cNvSpPr txBox="1"/>
          <p:nvPr/>
        </p:nvSpPr>
        <p:spPr>
          <a:xfrm>
            <a:off x="8111072" y="2035725"/>
            <a:ext cx="264401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Snapins</a:t>
            </a:r>
            <a:r>
              <a:rPr lang="en-US" sz="20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</a:p>
          <a:p>
            <a:endParaRPr lang="en-US" sz="1600" b="1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Instalan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software de forma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silenciosa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endParaRPr lang="en-US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s-E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Soportan scripts, instaladores y paquetes complejos (</a:t>
            </a:r>
            <a:r>
              <a:rPr lang="es-E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SnapinPacks</a:t>
            </a:r>
            <a:r>
              <a:rPr lang="es-E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922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15">
            <a:extLst>
              <a:ext uri="{FF2B5EF4-FFF2-40B4-BE49-F238E27FC236}">
                <a16:creationId xmlns:a16="http://schemas.microsoft.com/office/drawing/2014/main" id="{D3034D4D-154D-4636-BC8D-4DA6781CFD18}"/>
              </a:ext>
            </a:extLst>
          </p:cNvPr>
          <p:cNvSpPr txBox="1"/>
          <p:nvPr/>
        </p:nvSpPr>
        <p:spPr>
          <a:xfrm>
            <a:off x="771524" y="581025"/>
            <a:ext cx="1083945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Herramientas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Apoyo</a:t>
            </a:r>
            <a:endParaRPr lang="en-US" sz="3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Google Shape;124;p15">
            <a:extLst>
              <a:ext uri="{FF2B5EF4-FFF2-40B4-BE49-F238E27FC236}">
                <a16:creationId xmlns:a16="http://schemas.microsoft.com/office/drawing/2014/main" id="{50609988-64EE-48A8-1679-D0B52BCB4B8A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41;p17" descr="image.png">
            <a:extLst>
              <a:ext uri="{FF2B5EF4-FFF2-40B4-BE49-F238E27FC236}">
                <a16:creationId xmlns:a16="http://schemas.microsoft.com/office/drawing/2014/main" id="{4BCAB6CE-329F-A7F7-DA5B-6904605D71F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909" y="1812770"/>
            <a:ext cx="5180929" cy="46679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5;p17">
            <a:extLst>
              <a:ext uri="{FF2B5EF4-FFF2-40B4-BE49-F238E27FC236}">
                <a16:creationId xmlns:a16="http://schemas.microsoft.com/office/drawing/2014/main" id="{A8A78E74-EBB1-D5E4-2CCF-F55E31975911}"/>
              </a:ext>
            </a:extLst>
          </p:cNvPr>
          <p:cNvSpPr txBox="1"/>
          <p:nvPr/>
        </p:nvSpPr>
        <p:spPr>
          <a:xfrm>
            <a:off x="801003" y="2283274"/>
            <a:ext cx="4760271" cy="478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000" b="1" dirty="0">
                <a:solidFill>
                  <a:schemeClr val="bg1"/>
                </a:solidFill>
                <a:latin typeface="Urbanist"/>
                <a:sym typeface="Urbanist"/>
              </a:rPr>
              <a:t>Script </a:t>
            </a:r>
            <a:r>
              <a:rPr lang="en-US" sz="2000" b="1" dirty="0" err="1">
                <a:solidFill>
                  <a:schemeClr val="bg1"/>
                </a:solidFill>
                <a:latin typeface="Urbanist"/>
                <a:sym typeface="Urbanist"/>
              </a:rPr>
              <a:t>Oficial</a:t>
            </a:r>
            <a:endParaRPr lang="en-US" sz="2000" b="1" dirty="0">
              <a:solidFill>
                <a:schemeClr val="bg1"/>
              </a:solidFill>
              <a:latin typeface="Urbanist"/>
              <a:sym typeface="Urbanist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Fixed: </a:t>
            </a:r>
            <a:r>
              <a:rPr lang="es-ES" sz="1600" dirty="0">
                <a:solidFill>
                  <a:schemeClr val="bg1"/>
                </a:solidFill>
                <a:latin typeface="Urbanist" panose="020B0604020202020204"/>
              </a:rPr>
              <a:t>Cambio de </a:t>
            </a:r>
            <a:r>
              <a:rPr lang="es-ES" sz="1600" dirty="0" err="1">
                <a:solidFill>
                  <a:schemeClr val="bg1"/>
                </a:solidFill>
                <a:latin typeface="Urbanist" panose="020B0604020202020204"/>
              </a:rPr>
              <a:t>wget</a:t>
            </a:r>
            <a:r>
              <a:rPr lang="es-ES" sz="1600" dirty="0">
                <a:solidFill>
                  <a:schemeClr val="bg1"/>
                </a:solidFill>
                <a:latin typeface="Urbanist" panose="020B0604020202020204"/>
              </a:rPr>
              <a:t> por </a:t>
            </a:r>
            <a:r>
              <a:rPr lang="es-ES" sz="1600" dirty="0" err="1">
                <a:solidFill>
                  <a:schemeClr val="bg1"/>
                </a:solidFill>
                <a:latin typeface="Urbanist" panose="020B0604020202020204"/>
              </a:rPr>
              <a:t>mysqldump</a:t>
            </a:r>
            <a:endParaRPr lang="es-ES" sz="1600" dirty="0">
              <a:solidFill>
                <a:schemeClr val="bg1"/>
              </a:solidFill>
              <a:latin typeface="Urbanist" panose="020B0604020202020204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Almacenamiento externo con NFS y automatización con cron.</a:t>
            </a:r>
          </a:p>
          <a:p>
            <a:pPr lvl="0">
              <a:lnSpc>
                <a:spcPct val="140000"/>
              </a:lnSpc>
            </a:pPr>
            <a:r>
              <a:rPr lang="en-US" sz="2000" b="1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Exportar</a:t>
            </a:r>
            <a:r>
              <a:rPr lang="en-US" sz="2000" b="1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/</a:t>
            </a:r>
            <a:r>
              <a:rPr lang="en-US" sz="2000" b="1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importar</a:t>
            </a:r>
            <a:r>
              <a:rPr lang="en-US" sz="2000" b="1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imágenes</a:t>
            </a:r>
            <a:r>
              <a:rPr lang="en-US" sz="2000" b="1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: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SCP, </a:t>
            </a:r>
            <a:r>
              <a:rPr lang="en-US" sz="1600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rsync</a:t>
            </a:r>
            <a:r>
              <a:rPr lang="en-U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 o </a:t>
            </a:r>
            <a:r>
              <a:rPr lang="en-US" sz="1600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Filezilla</a:t>
            </a:r>
            <a:r>
              <a:rPr lang="en-U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Archivo .</a:t>
            </a:r>
            <a:r>
              <a:rPr lang="es-ES" sz="1600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csv</a:t>
            </a: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 con datos de imagen, exportable - importable vía web.</a:t>
            </a:r>
          </a:p>
          <a:p>
            <a:pPr lvl="0">
              <a:lnSpc>
                <a:spcPct val="140000"/>
              </a:lnSpc>
            </a:pPr>
            <a:r>
              <a:rPr lang="en-US" sz="2000" b="1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Migración</a:t>
            </a:r>
            <a:r>
              <a:rPr lang="en-US" sz="2000" b="1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 entre </a:t>
            </a:r>
            <a:r>
              <a:rPr lang="en-US" sz="2000" b="1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servidores</a:t>
            </a:r>
            <a:r>
              <a:rPr lang="en-US" sz="2000" b="1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: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Importar .</a:t>
            </a:r>
            <a:r>
              <a:rPr lang="es-ES" sz="1600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sql</a:t>
            </a: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, imágenes, </a:t>
            </a:r>
            <a:r>
              <a:rPr lang="es-ES" sz="1600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Snapins</a:t>
            </a: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 y scripts.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Actualizar contraseñas, interfaz de red e </a:t>
            </a:r>
            <a:r>
              <a:rPr lang="es-ES" sz="1600" dirty="0" err="1">
                <a:solidFill>
                  <a:schemeClr val="bg1"/>
                </a:solidFill>
                <a:latin typeface="Urbanist" panose="020B0604020202020204"/>
                <a:sym typeface="Urbanist"/>
              </a:rPr>
              <a:t>IPs</a:t>
            </a:r>
            <a:r>
              <a:rPr lang="es-ES" sz="1600" dirty="0">
                <a:solidFill>
                  <a:schemeClr val="bg1"/>
                </a:solidFill>
                <a:latin typeface="Urbanist" panose="020B0604020202020204"/>
                <a:sym typeface="Urbanist"/>
              </a:rPr>
              <a:t>.</a:t>
            </a:r>
            <a:endParaRPr lang="en-US" sz="1600" dirty="0">
              <a:solidFill>
                <a:schemeClr val="bg1"/>
              </a:solidFill>
              <a:latin typeface="Urbanist" panose="020B0604020202020204"/>
              <a:sym typeface="Urbanist"/>
            </a:endParaRPr>
          </a:p>
          <a:p>
            <a:pPr lvl="0">
              <a:lnSpc>
                <a:spcPct val="140000"/>
              </a:lnSpc>
            </a:pPr>
            <a:endParaRPr lang="en-US" b="1" dirty="0">
              <a:solidFill>
                <a:schemeClr val="bg1"/>
              </a:solidFill>
              <a:latin typeface="Urbanist" panose="020B0604020202020204"/>
              <a:sym typeface="Urbanist"/>
            </a:endParaRPr>
          </a:p>
          <a:p>
            <a:pPr lvl="0">
              <a:lnSpc>
                <a:spcPct val="140000"/>
              </a:lnSpc>
            </a:pPr>
            <a:endParaRPr lang="en-US" sz="1500" dirty="0">
              <a:solidFill>
                <a:schemeClr val="bg1"/>
              </a:solidFill>
              <a:latin typeface="Urbanist" panose="020B0604020202020204"/>
              <a:sym typeface="Urbanist"/>
            </a:endParaRPr>
          </a:p>
        </p:txBody>
      </p:sp>
      <p:pic>
        <p:nvPicPr>
          <p:cNvPr id="19" name="Google Shape;141;p17" descr="image.png">
            <a:extLst>
              <a:ext uri="{FF2B5EF4-FFF2-40B4-BE49-F238E27FC236}">
                <a16:creationId xmlns:a16="http://schemas.microsoft.com/office/drawing/2014/main" id="{8830F70F-0E7D-EE94-D2A3-AC7E27ECD5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92414" y="1812769"/>
            <a:ext cx="5180929" cy="4667991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BF00EB72-820A-7A94-30D4-4C974A25FC1E}"/>
              </a:ext>
            </a:extLst>
          </p:cNvPr>
          <p:cNvSpPr txBox="1"/>
          <p:nvPr/>
        </p:nvSpPr>
        <p:spPr>
          <a:xfrm>
            <a:off x="1532474" y="1212286"/>
            <a:ext cx="3181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Copias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Seguridad</a:t>
            </a:r>
            <a:endParaRPr lang="es-ES" sz="2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3FF1986-E542-ABAF-E7D3-1400E420F3D0}"/>
              </a:ext>
            </a:extLst>
          </p:cNvPr>
          <p:cNvSpPr txBox="1"/>
          <p:nvPr/>
        </p:nvSpPr>
        <p:spPr>
          <a:xfrm>
            <a:off x="6780131" y="1134235"/>
            <a:ext cx="3833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Monitorización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lang="en-US" sz="28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Alerta</a:t>
            </a:r>
            <a:endParaRPr lang="es-ES" sz="2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FFB927E-BA6B-8465-5790-A3BB1B985464}"/>
              </a:ext>
            </a:extLst>
          </p:cNvPr>
          <p:cNvSpPr txBox="1"/>
          <p:nvPr/>
        </p:nvSpPr>
        <p:spPr>
          <a:xfrm>
            <a:off x="6395349" y="2315309"/>
            <a:ext cx="120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10.2.7.5</a:t>
            </a:r>
          </a:p>
        </p:txBody>
      </p:sp>
      <p:pic>
        <p:nvPicPr>
          <p:cNvPr id="34" name="Picture 6">
            <a:extLst>
              <a:ext uri="{FF2B5EF4-FFF2-40B4-BE49-F238E27FC236}">
                <a16:creationId xmlns:a16="http://schemas.microsoft.com/office/drawing/2014/main" id="{B1DC3155-94C9-DA0C-1409-75B82DFE2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468" y="2085319"/>
            <a:ext cx="686707" cy="68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>
            <a:extLst>
              <a:ext uri="{FF2B5EF4-FFF2-40B4-BE49-F238E27FC236}">
                <a16:creationId xmlns:a16="http://schemas.microsoft.com/office/drawing/2014/main" id="{0E88A0C3-A4E1-9AA5-736F-3AB6E7288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998" y="2002465"/>
            <a:ext cx="790462" cy="84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72EF50CA-B354-A9EE-AE63-66FFEA66A46C}"/>
              </a:ext>
            </a:extLst>
          </p:cNvPr>
          <p:cNvSpPr txBox="1"/>
          <p:nvPr/>
        </p:nvSpPr>
        <p:spPr>
          <a:xfrm>
            <a:off x="6395349" y="4207333"/>
            <a:ext cx="115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10.2.7.99</a:t>
            </a:r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BDC8D491-384E-8354-57D5-875F19B3F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338" y="4003630"/>
            <a:ext cx="776739" cy="77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>
            <a:extLst>
              <a:ext uri="{FF2B5EF4-FFF2-40B4-BE49-F238E27FC236}">
                <a16:creationId xmlns:a16="http://schemas.microsoft.com/office/drawing/2014/main" id="{7898C98A-9FD5-D744-1E08-DBAFBBB54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998" y="3976590"/>
            <a:ext cx="776739" cy="7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>
            <a:extLst>
              <a:ext uri="{FF2B5EF4-FFF2-40B4-BE49-F238E27FC236}">
                <a16:creationId xmlns:a16="http://schemas.microsoft.com/office/drawing/2014/main" id="{FE4B342B-DDA4-E8E4-CD8B-518314A57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039" y="5383025"/>
            <a:ext cx="981335" cy="98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0C7A5B9F-29BF-3167-97D3-3D571B97654E}"/>
              </a:ext>
            </a:extLst>
          </p:cNvPr>
          <p:cNvSpPr txBox="1"/>
          <p:nvPr/>
        </p:nvSpPr>
        <p:spPr>
          <a:xfrm>
            <a:off x="9522501" y="2283274"/>
            <a:ext cx="16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Node Exporter</a:t>
            </a:r>
            <a:endParaRPr lang="en-US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6BF1EA9-A693-FE4D-B12D-135E566D1A5B}"/>
              </a:ext>
            </a:extLst>
          </p:cNvPr>
          <p:cNvSpPr txBox="1"/>
          <p:nvPr/>
        </p:nvSpPr>
        <p:spPr>
          <a:xfrm>
            <a:off x="9589780" y="4138223"/>
            <a:ext cx="1667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Prometheus y Grafana</a:t>
            </a:r>
            <a:endParaRPr lang="en-US" dirty="0"/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BA0A8B75-333E-CC1B-4077-03FBD661F520}"/>
              </a:ext>
            </a:extLst>
          </p:cNvPr>
          <p:cNvSpPr/>
          <p:nvPr/>
        </p:nvSpPr>
        <p:spPr>
          <a:xfrm>
            <a:off x="8696998" y="2843229"/>
            <a:ext cx="776739" cy="1009243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Flecha: hacia abajo 44">
            <a:extLst>
              <a:ext uri="{FF2B5EF4-FFF2-40B4-BE49-F238E27FC236}">
                <a16:creationId xmlns:a16="http://schemas.microsoft.com/office/drawing/2014/main" id="{D0DAF2FF-C605-44B8-CF6F-0F6EF0476B34}"/>
              </a:ext>
            </a:extLst>
          </p:cNvPr>
          <p:cNvSpPr/>
          <p:nvPr/>
        </p:nvSpPr>
        <p:spPr>
          <a:xfrm>
            <a:off x="7882003" y="4884818"/>
            <a:ext cx="291406" cy="486811"/>
          </a:xfrm>
          <a:prstGeom prst="downArrow">
            <a:avLst/>
          </a:prstGeom>
          <a:solidFill>
            <a:srgbClr val="FF9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22D8BDA-B700-BD04-33FF-4ED36493523E}"/>
              </a:ext>
            </a:extLst>
          </p:cNvPr>
          <p:cNvSpPr txBox="1"/>
          <p:nvPr/>
        </p:nvSpPr>
        <p:spPr>
          <a:xfrm>
            <a:off x="8518374" y="5584146"/>
            <a:ext cx="16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Telegram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89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15">
            <a:extLst>
              <a:ext uri="{FF2B5EF4-FFF2-40B4-BE49-F238E27FC236}">
                <a16:creationId xmlns:a16="http://schemas.microsoft.com/office/drawing/2014/main" id="{9A463A7D-F8E2-EF37-7BD5-3D9FF33C83CE}"/>
              </a:ext>
            </a:extLst>
          </p:cNvPr>
          <p:cNvSpPr txBox="1"/>
          <p:nvPr/>
        </p:nvSpPr>
        <p:spPr>
          <a:xfrm>
            <a:off x="771524" y="581025"/>
            <a:ext cx="1083945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Herramientas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Apoyo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– </a:t>
            </a:r>
            <a:r>
              <a:rPr lang="en-US" sz="3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Firewall y SSH Hardening</a:t>
            </a:r>
            <a:endParaRPr lang="en-US" sz="3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Google Shape;124;p15">
            <a:extLst>
              <a:ext uri="{FF2B5EF4-FFF2-40B4-BE49-F238E27FC236}">
                <a16:creationId xmlns:a16="http://schemas.microsoft.com/office/drawing/2014/main" id="{5EDB60F0-87D5-2575-547F-D170ED0F77BA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CF186418-F49C-43A0-F562-24E981634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282" y="1654963"/>
            <a:ext cx="2541347" cy="150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oogle Shape;141;p17" descr="image.png">
            <a:extLst>
              <a:ext uri="{FF2B5EF4-FFF2-40B4-BE49-F238E27FC236}">
                <a16:creationId xmlns:a16="http://schemas.microsoft.com/office/drawing/2014/main" id="{D0DDBF8F-DCB7-108D-D2CD-40E3B53BD3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0121" y="3244051"/>
            <a:ext cx="3385365" cy="338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45;p17">
            <a:extLst>
              <a:ext uri="{FF2B5EF4-FFF2-40B4-BE49-F238E27FC236}">
                <a16:creationId xmlns:a16="http://schemas.microsoft.com/office/drawing/2014/main" id="{9FFD9D0D-C0C1-BDBB-31DD-CEAA3F7BF069}"/>
              </a:ext>
            </a:extLst>
          </p:cNvPr>
          <p:cNvSpPr txBox="1"/>
          <p:nvPr/>
        </p:nvSpPr>
        <p:spPr>
          <a:xfrm>
            <a:off x="1750515" y="3405469"/>
            <a:ext cx="3198722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Urbanist"/>
                <a:sym typeface="Urbanist"/>
              </a:rPr>
              <a:t>Tráfico Saliente: Permitido todo.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Urbanist"/>
                <a:sym typeface="Urbanist"/>
              </a:rPr>
              <a:t>Tráfico Entrante: Denegado todo por </a:t>
            </a:r>
            <a:r>
              <a:rPr lang="pt-BR" dirty="0" err="1">
                <a:solidFill>
                  <a:schemeClr val="bg1"/>
                </a:solidFill>
                <a:latin typeface="Urbanist"/>
                <a:sym typeface="Urbanist"/>
              </a:rPr>
              <a:t>defecto</a:t>
            </a:r>
            <a:r>
              <a:rPr lang="pt-BR" dirty="0">
                <a:solidFill>
                  <a:schemeClr val="bg1"/>
                </a:solidFill>
                <a:latin typeface="Urbanist"/>
                <a:sym typeface="Urbanist"/>
              </a:rPr>
              <a:t>.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Urbanist"/>
                <a:sym typeface="Urbanist"/>
              </a:rPr>
              <a:t>Auditoría de Puertos y Servicios: Documentación oficial y  comandos “</a:t>
            </a:r>
            <a:r>
              <a:rPr lang="es-ES" dirty="0" err="1">
                <a:solidFill>
                  <a:schemeClr val="bg1"/>
                </a:solidFill>
                <a:latin typeface="Urbanist"/>
                <a:sym typeface="Urbanist"/>
              </a:rPr>
              <a:t>ss</a:t>
            </a:r>
            <a:r>
              <a:rPr lang="es-ES" dirty="0">
                <a:solidFill>
                  <a:schemeClr val="bg1"/>
                </a:solidFill>
                <a:latin typeface="Urbanist"/>
                <a:sym typeface="Urbanist"/>
              </a:rPr>
              <a:t> -</a:t>
            </a:r>
            <a:r>
              <a:rPr lang="es-ES" dirty="0" err="1">
                <a:solidFill>
                  <a:schemeClr val="bg1"/>
                </a:solidFill>
                <a:latin typeface="Urbanist"/>
                <a:sym typeface="Urbanist"/>
              </a:rPr>
              <a:t>tulnp</a:t>
            </a:r>
            <a:r>
              <a:rPr lang="es-ES" dirty="0">
                <a:solidFill>
                  <a:schemeClr val="bg1"/>
                </a:solidFill>
                <a:latin typeface="Urbanist"/>
                <a:sym typeface="Urbanist"/>
              </a:rPr>
              <a:t>” y “</a:t>
            </a:r>
            <a:r>
              <a:rPr lang="es-ES" dirty="0" err="1">
                <a:solidFill>
                  <a:schemeClr val="bg1"/>
                </a:solidFill>
                <a:latin typeface="Urbanist"/>
                <a:sym typeface="Urbanist"/>
              </a:rPr>
              <a:t>lsof</a:t>
            </a:r>
            <a:r>
              <a:rPr lang="es-ES" dirty="0">
                <a:solidFill>
                  <a:schemeClr val="bg1"/>
                </a:solidFill>
                <a:latin typeface="Urbanist"/>
                <a:sym typeface="Urbanist"/>
              </a:rPr>
              <a:t>”.</a:t>
            </a:r>
            <a:endParaRPr lang="en-US" dirty="0">
              <a:solidFill>
                <a:schemeClr val="bg1"/>
              </a:solidFill>
              <a:latin typeface="Urbanist"/>
              <a:sym typeface="Urbanist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ED65980-834E-4E1E-02BB-15E6F2B46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134" y="1647720"/>
            <a:ext cx="1508379" cy="1508379"/>
          </a:xfrm>
          <a:prstGeom prst="rect">
            <a:avLst/>
          </a:prstGeom>
        </p:spPr>
      </p:pic>
      <p:pic>
        <p:nvPicPr>
          <p:cNvPr id="19" name="Google Shape;141;p17" descr="image.png">
            <a:extLst>
              <a:ext uri="{FF2B5EF4-FFF2-40B4-BE49-F238E27FC236}">
                <a16:creationId xmlns:a16="http://schemas.microsoft.com/office/drawing/2014/main" id="{10AB81C7-3CE3-A44F-8AD7-DE9E0BF9F6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2642" y="3244050"/>
            <a:ext cx="3385365" cy="338897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44;p17">
            <a:extLst>
              <a:ext uri="{FF2B5EF4-FFF2-40B4-BE49-F238E27FC236}">
                <a16:creationId xmlns:a16="http://schemas.microsoft.com/office/drawing/2014/main" id="{F055017A-E1BC-54DA-3BEC-D96CC538CC9E}"/>
              </a:ext>
            </a:extLst>
          </p:cNvPr>
          <p:cNvSpPr txBox="1"/>
          <p:nvPr/>
        </p:nvSpPr>
        <p:spPr>
          <a:xfrm>
            <a:off x="7091907" y="3383805"/>
            <a:ext cx="3198722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Autenticación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Llaves</a:t>
            </a:r>
          </a:p>
          <a:p>
            <a:endParaRPr lang="en-US" b="1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Prohibición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del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contraseñas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endParaRPr lang="en-US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Forzado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llaves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endParaRPr lang="en-US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Par de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llaves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con </a:t>
            </a:r>
            <a:r>
              <a:rPr lang="en-US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algoritmo</a:t>
            </a:r>
            <a:r>
              <a:rPr lang="en-US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Ed25519</a:t>
            </a:r>
          </a:p>
          <a:p>
            <a:endParaRPr lang="en-US" dirty="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r>
              <a:rPr lang="es-ES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Prohibición de acceso con ROOT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432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15">
            <a:extLst>
              <a:ext uri="{FF2B5EF4-FFF2-40B4-BE49-F238E27FC236}">
                <a16:creationId xmlns:a16="http://schemas.microsoft.com/office/drawing/2014/main" id="{C09F5CE4-B9DE-2EE4-CB2A-C35887326503}"/>
              </a:ext>
            </a:extLst>
          </p:cNvPr>
          <p:cNvSpPr txBox="1"/>
          <p:nvPr/>
        </p:nvSpPr>
        <p:spPr>
          <a:xfrm>
            <a:off x="771524" y="581025"/>
            <a:ext cx="1083945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Demostración</a:t>
            </a: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36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funcionamiento</a:t>
            </a:r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Google Shape;124;p15">
            <a:extLst>
              <a:ext uri="{FF2B5EF4-FFF2-40B4-BE49-F238E27FC236}">
                <a16:creationId xmlns:a16="http://schemas.microsoft.com/office/drawing/2014/main" id="{8ECC1A18-2E18-29BC-D616-FB139DF3EFBE}"/>
              </a:ext>
            </a:extLst>
          </p:cNvPr>
          <p:cNvSpPr/>
          <p:nvPr/>
        </p:nvSpPr>
        <p:spPr>
          <a:xfrm>
            <a:off x="581025" y="5810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59774A-6216-9C77-59D2-399D32A263C7}"/>
              </a:ext>
            </a:extLst>
          </p:cNvPr>
          <p:cNvSpPr txBox="1"/>
          <p:nvPr/>
        </p:nvSpPr>
        <p:spPr>
          <a:xfrm>
            <a:off x="3717923" y="162164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  <a:hlinkClick r:id="rId2"/>
              </a:rPr>
              <a:t>https://www.youtube.com/watch?v=vzDG5FsjIes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2" name="Imagen 11">
            <a:hlinkClick r:id="rId2"/>
            <a:extLst>
              <a:ext uri="{FF2B5EF4-FFF2-40B4-BE49-F238E27FC236}">
                <a16:creationId xmlns:a16="http://schemas.microsoft.com/office/drawing/2014/main" id="{3BCCBDC8-75F3-096C-C2EC-01F47B22B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121" y="2245376"/>
            <a:ext cx="3499758" cy="349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34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3;p15">
            <a:extLst>
              <a:ext uri="{FF2B5EF4-FFF2-40B4-BE49-F238E27FC236}">
                <a16:creationId xmlns:a16="http://schemas.microsoft.com/office/drawing/2014/main" id="{99F453B4-F9CF-40F8-B1ED-6813B70E3925}"/>
              </a:ext>
            </a:extLst>
          </p:cNvPr>
          <p:cNvSpPr txBox="1"/>
          <p:nvPr/>
        </p:nvSpPr>
        <p:spPr>
          <a:xfrm>
            <a:off x="771524" y="581025"/>
            <a:ext cx="1083945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Conclusiones</a:t>
            </a:r>
            <a:endParaRPr lang="en-US" sz="3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Google Shape;141;p17" descr="image.png">
            <a:extLst>
              <a:ext uri="{FF2B5EF4-FFF2-40B4-BE49-F238E27FC236}">
                <a16:creationId xmlns:a16="http://schemas.microsoft.com/office/drawing/2014/main" id="{37D1E097-44C7-CAF9-6758-4448C6F91C4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035" y="1545879"/>
            <a:ext cx="10149022" cy="1690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5;p17">
            <a:extLst>
              <a:ext uri="{FF2B5EF4-FFF2-40B4-BE49-F238E27FC236}">
                <a16:creationId xmlns:a16="http://schemas.microsoft.com/office/drawing/2014/main" id="{7BE964BD-17AE-700E-3845-63E479B5F9C6}"/>
              </a:ext>
            </a:extLst>
          </p:cNvPr>
          <p:cNvSpPr txBox="1"/>
          <p:nvPr/>
        </p:nvSpPr>
        <p:spPr>
          <a:xfrm>
            <a:off x="1315086" y="1653453"/>
            <a:ext cx="3097257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2200" b="1" dirty="0">
                <a:solidFill>
                  <a:schemeClr val="bg1"/>
                </a:solidFill>
                <a:latin typeface="Urbanist"/>
                <a:sym typeface="Urbanist"/>
              </a:rPr>
              <a:t>¿Qué hemos logrado?</a:t>
            </a:r>
            <a:endParaRPr lang="en-US" sz="2200" b="1" dirty="0">
              <a:solidFill>
                <a:schemeClr val="bg1"/>
              </a:solidFill>
              <a:latin typeface="Urbanist"/>
              <a:sym typeface="Urbanist"/>
            </a:endParaRPr>
          </a:p>
        </p:txBody>
      </p:sp>
      <p:sp>
        <p:nvSpPr>
          <p:cNvPr id="6" name="Google Shape;145;p17">
            <a:extLst>
              <a:ext uri="{FF2B5EF4-FFF2-40B4-BE49-F238E27FC236}">
                <a16:creationId xmlns:a16="http://schemas.microsoft.com/office/drawing/2014/main" id="{47E1275B-58E8-CC76-F1DE-8082BFF44513}"/>
              </a:ext>
            </a:extLst>
          </p:cNvPr>
          <p:cNvSpPr txBox="1"/>
          <p:nvPr/>
        </p:nvSpPr>
        <p:spPr>
          <a:xfrm>
            <a:off x="1315086" y="2181159"/>
            <a:ext cx="9951536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2200" dirty="0">
                <a:solidFill>
                  <a:schemeClr val="bg1"/>
                </a:solidFill>
                <a:latin typeface="Urbanist"/>
                <a:sym typeface="Urbanist"/>
              </a:rPr>
              <a:t>Un servidor PXE capaz de realizar despliegues masivos en múltiples subredes y que permite configurar los hosts de manera automática.</a:t>
            </a:r>
            <a:endParaRPr lang="en-US" sz="2200" dirty="0">
              <a:solidFill>
                <a:schemeClr val="bg1"/>
              </a:solidFill>
              <a:latin typeface="Urbanist"/>
              <a:sym typeface="Urbanist"/>
            </a:endParaRPr>
          </a:p>
        </p:txBody>
      </p:sp>
      <p:pic>
        <p:nvPicPr>
          <p:cNvPr id="7" name="Google Shape;141;p17" descr="image.png">
            <a:extLst>
              <a:ext uri="{FF2B5EF4-FFF2-40B4-BE49-F238E27FC236}">
                <a16:creationId xmlns:a16="http://schemas.microsoft.com/office/drawing/2014/main" id="{EF95B98F-4D1E-62ED-1ACD-615543BDE9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035" y="3398105"/>
            <a:ext cx="10149022" cy="12900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5;p17">
            <a:extLst>
              <a:ext uri="{FF2B5EF4-FFF2-40B4-BE49-F238E27FC236}">
                <a16:creationId xmlns:a16="http://schemas.microsoft.com/office/drawing/2014/main" id="{FF5501BF-669B-53B9-C71A-13D99271DF19}"/>
              </a:ext>
            </a:extLst>
          </p:cNvPr>
          <p:cNvSpPr txBox="1"/>
          <p:nvPr/>
        </p:nvSpPr>
        <p:spPr>
          <a:xfrm>
            <a:off x="1315086" y="3549571"/>
            <a:ext cx="5143771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200" b="1" dirty="0" err="1">
                <a:solidFill>
                  <a:schemeClr val="bg1"/>
                </a:solidFill>
                <a:latin typeface="Urbanist"/>
                <a:sym typeface="Urbanist"/>
              </a:rPr>
              <a:t>Mejoras</a:t>
            </a:r>
            <a:r>
              <a:rPr lang="en-US" sz="2200" b="1" dirty="0">
                <a:solidFill>
                  <a:schemeClr val="bg1"/>
                </a:solidFill>
                <a:latin typeface="Urbanist"/>
                <a:sym typeface="Urbanist"/>
              </a:rPr>
              <a:t> para </a:t>
            </a:r>
            <a:r>
              <a:rPr lang="en-US" sz="2200" b="1" dirty="0" err="1">
                <a:solidFill>
                  <a:schemeClr val="bg1"/>
                </a:solidFill>
                <a:latin typeface="Urbanist"/>
                <a:sym typeface="Urbanist"/>
              </a:rPr>
              <a:t>el</a:t>
            </a:r>
            <a:r>
              <a:rPr lang="en-US" sz="2200" b="1" dirty="0">
                <a:solidFill>
                  <a:schemeClr val="bg1"/>
                </a:solidFill>
                <a:latin typeface="Urbanist"/>
                <a:sym typeface="Urbanist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Urbanist"/>
                <a:sym typeface="Urbanist"/>
              </a:rPr>
              <a:t>futuro</a:t>
            </a:r>
            <a:r>
              <a:rPr lang="en-US" sz="2200" b="1" dirty="0">
                <a:solidFill>
                  <a:schemeClr val="bg1"/>
                </a:solidFill>
                <a:latin typeface="Urbanist"/>
                <a:sym typeface="Urbanist"/>
              </a:rPr>
              <a:t>:</a:t>
            </a:r>
          </a:p>
        </p:txBody>
      </p:sp>
      <p:sp>
        <p:nvSpPr>
          <p:cNvPr id="9" name="Google Shape;145;p17">
            <a:extLst>
              <a:ext uri="{FF2B5EF4-FFF2-40B4-BE49-F238E27FC236}">
                <a16:creationId xmlns:a16="http://schemas.microsoft.com/office/drawing/2014/main" id="{DAD59DE4-3E93-5557-9636-7216A8825C60}"/>
              </a:ext>
            </a:extLst>
          </p:cNvPr>
          <p:cNvSpPr txBox="1"/>
          <p:nvPr/>
        </p:nvSpPr>
        <p:spPr>
          <a:xfrm>
            <a:off x="1315086" y="4006519"/>
            <a:ext cx="9951536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2200" dirty="0">
                <a:solidFill>
                  <a:schemeClr val="bg1"/>
                </a:solidFill>
                <a:latin typeface="Urbanist"/>
                <a:sym typeface="Urbanist"/>
              </a:rPr>
              <a:t>Implantación de HTTPS y Panel de Control para la gestión del Wake </a:t>
            </a:r>
            <a:r>
              <a:rPr lang="es-ES" sz="2200" dirty="0" err="1">
                <a:solidFill>
                  <a:schemeClr val="bg1"/>
                </a:solidFill>
                <a:latin typeface="Urbanist"/>
                <a:sym typeface="Urbanist"/>
              </a:rPr>
              <a:t>On</a:t>
            </a:r>
            <a:r>
              <a:rPr lang="es-ES" sz="2200" dirty="0">
                <a:solidFill>
                  <a:schemeClr val="bg1"/>
                </a:solidFill>
                <a:latin typeface="Urbanist"/>
                <a:sym typeface="Urbanist"/>
              </a:rPr>
              <a:t> LAN.</a:t>
            </a:r>
            <a:endParaRPr lang="en-US" sz="2200" dirty="0">
              <a:solidFill>
                <a:schemeClr val="bg1"/>
              </a:solidFill>
              <a:latin typeface="Urbanist"/>
              <a:sym typeface="Urbanist"/>
            </a:endParaRPr>
          </a:p>
        </p:txBody>
      </p:sp>
      <p:pic>
        <p:nvPicPr>
          <p:cNvPr id="10" name="Google Shape;141;p17" descr="image.png">
            <a:extLst>
              <a:ext uri="{FF2B5EF4-FFF2-40B4-BE49-F238E27FC236}">
                <a16:creationId xmlns:a16="http://schemas.microsoft.com/office/drawing/2014/main" id="{C4BD901B-61D7-0190-1F6E-7BE9AD8FFF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035" y="4849534"/>
            <a:ext cx="10149022" cy="155636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45;p17">
            <a:extLst>
              <a:ext uri="{FF2B5EF4-FFF2-40B4-BE49-F238E27FC236}">
                <a16:creationId xmlns:a16="http://schemas.microsoft.com/office/drawing/2014/main" id="{17E79317-2719-E68C-154F-94EC37D3FDEC}"/>
              </a:ext>
            </a:extLst>
          </p:cNvPr>
          <p:cNvSpPr txBox="1"/>
          <p:nvPr/>
        </p:nvSpPr>
        <p:spPr>
          <a:xfrm>
            <a:off x="1315086" y="5001000"/>
            <a:ext cx="5143771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200" b="1" dirty="0">
                <a:solidFill>
                  <a:schemeClr val="bg1"/>
                </a:solidFill>
                <a:latin typeface="Urbanist"/>
                <a:sym typeface="Urbanist"/>
              </a:rPr>
              <a:t>¿</a:t>
            </a:r>
            <a:r>
              <a:rPr lang="en-US" sz="2200" b="1" dirty="0" err="1">
                <a:solidFill>
                  <a:schemeClr val="bg1"/>
                </a:solidFill>
                <a:latin typeface="Urbanist"/>
                <a:sym typeface="Urbanist"/>
              </a:rPr>
              <a:t>Qué</a:t>
            </a:r>
            <a:r>
              <a:rPr lang="en-US" sz="2200" b="1" dirty="0">
                <a:solidFill>
                  <a:schemeClr val="bg1"/>
                </a:solidFill>
                <a:latin typeface="Urbanist"/>
                <a:sym typeface="Urbanist"/>
              </a:rPr>
              <a:t> he </a:t>
            </a:r>
            <a:r>
              <a:rPr lang="en-US" sz="2200" b="1" dirty="0" err="1">
                <a:solidFill>
                  <a:schemeClr val="bg1"/>
                </a:solidFill>
                <a:latin typeface="Urbanist"/>
                <a:sym typeface="Urbanist"/>
              </a:rPr>
              <a:t>aprendido</a:t>
            </a:r>
            <a:r>
              <a:rPr lang="en-US" sz="2200" b="1" dirty="0">
                <a:solidFill>
                  <a:schemeClr val="bg1"/>
                </a:solidFill>
                <a:latin typeface="Urbanist"/>
                <a:sym typeface="Urbanist"/>
              </a:rPr>
              <a:t>?</a:t>
            </a:r>
          </a:p>
        </p:txBody>
      </p:sp>
      <p:sp>
        <p:nvSpPr>
          <p:cNvPr id="12" name="Google Shape;145;p17">
            <a:extLst>
              <a:ext uri="{FF2B5EF4-FFF2-40B4-BE49-F238E27FC236}">
                <a16:creationId xmlns:a16="http://schemas.microsoft.com/office/drawing/2014/main" id="{B37B2A81-BB06-3B74-DADD-E0AC5620D1A7}"/>
              </a:ext>
            </a:extLst>
          </p:cNvPr>
          <p:cNvSpPr txBox="1"/>
          <p:nvPr/>
        </p:nvSpPr>
        <p:spPr>
          <a:xfrm>
            <a:off x="1315086" y="5457948"/>
            <a:ext cx="9951536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2200" dirty="0">
                <a:solidFill>
                  <a:schemeClr val="bg1"/>
                </a:solidFill>
                <a:latin typeface="Urbanist"/>
                <a:sym typeface="Urbanist"/>
              </a:rPr>
              <a:t>Se obtuvo un aprendizaje profundo sobre protocolos de red y administración y automatización de sistemas.</a:t>
            </a:r>
            <a:endParaRPr lang="en-US" sz="2200" dirty="0">
              <a:solidFill>
                <a:schemeClr val="bg1"/>
              </a:solidFill>
              <a:latin typeface="Urbanist"/>
              <a:sym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1831610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0;p24">
            <a:extLst>
              <a:ext uri="{FF2B5EF4-FFF2-40B4-BE49-F238E27FC236}">
                <a16:creationId xmlns:a16="http://schemas.microsoft.com/office/drawing/2014/main" id="{E7418FD7-627A-ADDC-B074-0356693CAFB6}"/>
              </a:ext>
            </a:extLst>
          </p:cNvPr>
          <p:cNvSpPr txBox="1"/>
          <p:nvPr/>
        </p:nvSpPr>
        <p:spPr>
          <a:xfrm>
            <a:off x="305276" y="58102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¿</a:t>
            </a:r>
            <a:r>
              <a:rPr lang="en-US" sz="75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Preguntas</a:t>
            </a:r>
            <a:r>
              <a:rPr lang="en-US" sz="75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dirty="0"/>
          </a:p>
        </p:txBody>
      </p:sp>
      <p:sp>
        <p:nvSpPr>
          <p:cNvPr id="5" name="Google Shape;251;p24">
            <a:extLst>
              <a:ext uri="{FF2B5EF4-FFF2-40B4-BE49-F238E27FC236}">
                <a16:creationId xmlns:a16="http://schemas.microsoft.com/office/drawing/2014/main" id="{1F1DB8A1-B2A7-FB69-DB75-A467527D8E6B}"/>
              </a:ext>
            </a:extLst>
          </p:cNvPr>
          <p:cNvSpPr txBox="1"/>
          <p:nvPr/>
        </p:nvSpPr>
        <p:spPr>
          <a:xfrm>
            <a:off x="581025" y="2265045"/>
            <a:ext cx="1102995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Gracias </a:t>
            </a:r>
            <a:r>
              <a:rPr lang="en-US" sz="26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</a:t>
            </a:r>
            <a:r>
              <a:rPr lang="en-US" sz="26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6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</a:t>
            </a:r>
            <a:r>
              <a:rPr lang="en-US" sz="26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6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atención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31768268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771</Words>
  <Application>Microsoft Office PowerPoint</Application>
  <PresentationFormat>Panorámica</PresentationFormat>
  <Paragraphs>141</Paragraphs>
  <Slides>13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Urbanist</vt:lpstr>
      <vt:lpstr>Tema de Office</vt:lpstr>
      <vt:lpstr>IMPLANTACIÓN DE SERVIDOR PXE BASADO EN FOG PROJECT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81</cp:revision>
  <dcterms:created xsi:type="dcterms:W3CDTF">2026-05-09T14:45:49Z</dcterms:created>
  <dcterms:modified xsi:type="dcterms:W3CDTF">2026-05-16T15:08:39Z</dcterms:modified>
</cp:coreProperties>
</file>